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424" r:id="rId3"/>
    <p:sldId id="320" r:id="rId4"/>
    <p:sldId id="425" r:id="rId5"/>
    <p:sldId id="309" r:id="rId6"/>
    <p:sldId id="334" r:id="rId7"/>
    <p:sldId id="333" r:id="rId8"/>
    <p:sldId id="423" r:id="rId9"/>
    <p:sldId id="365" r:id="rId10"/>
    <p:sldId id="280" r:id="rId11"/>
    <p:sldId id="346" r:id="rId12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C6B71-D78C-028C-4540-0FAC7D1DEA43}" v="1" dt="2025-10-06T12:44:29.881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37" d="100"/>
          <a:sy n="137" d="100"/>
        </p:scale>
        <p:origin x="1368" y="19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Beltrao Braga" userId="S::gustavobb1@insper.edu.br::af0aa7ae-b103-44e9-9c36-8c21682b38a4" providerId="AD" clId="Web-{449C6B71-D78C-028C-4540-0FAC7D1DEA43}"/>
    <pc:docChg chg="delSld">
      <pc:chgData name="Gustavo Beltrao Braga" userId="S::gustavobb1@insper.edu.br::af0aa7ae-b103-44e9-9c36-8c21682b38a4" providerId="AD" clId="Web-{449C6B71-D78C-028C-4540-0FAC7D1DEA43}" dt="2025-10-06T12:44:29.881" v="0"/>
      <pc:docMkLst>
        <pc:docMk/>
      </pc:docMkLst>
      <pc:sldChg chg="del">
        <pc:chgData name="Gustavo Beltrao Braga" userId="S::gustavobb1@insper.edu.br::af0aa7ae-b103-44e9-9c36-8c21682b38a4" providerId="AD" clId="Web-{449C6B71-D78C-028C-4540-0FAC7D1DEA43}" dt="2025-10-06T12:44:29.881" v="0"/>
        <pc:sldMkLst>
          <pc:docMk/>
          <pc:sldMk cId="2654402062" sldId="335"/>
        </pc:sldMkLst>
      </pc:sldChg>
    </pc:docChg>
  </pc:docChgLst>
  <pc:docChgLst>
    <pc:chgData name="Gustavo Beltrao Braga" userId="S::gustavobb1@insper.edu.br::af0aa7ae-b103-44e9-9c36-8c21682b38a4" providerId="AD" clId="Web-{A2FFE97A-23CC-267A-AA7E-2731295143FC}"/>
    <pc:docChg chg="addSld delSld modSld">
      <pc:chgData name="Gustavo Beltrao Braga" userId="S::gustavobb1@insper.edu.br::af0aa7ae-b103-44e9-9c36-8c21682b38a4" providerId="AD" clId="Web-{A2FFE97A-23CC-267A-AA7E-2731295143FC}" dt="2025-09-29T17:36:01.754" v="59" actId="20577"/>
      <pc:docMkLst>
        <pc:docMk/>
      </pc:docMkLst>
      <pc:sldChg chg="add">
        <pc:chgData name="Gustavo Beltrao Braga" userId="S::gustavobb1@insper.edu.br::af0aa7ae-b103-44e9-9c36-8c21682b38a4" providerId="AD" clId="Web-{A2FFE97A-23CC-267A-AA7E-2731295143FC}" dt="2025-09-29T13:33:09.562" v="6"/>
        <pc:sldMkLst>
          <pc:docMk/>
          <pc:sldMk cId="3226231667" sldId="334"/>
        </pc:sldMkLst>
      </pc:sldChg>
      <pc:sldChg chg="modSp add">
        <pc:chgData name="Gustavo Beltrao Braga" userId="S::gustavobb1@insper.edu.br::af0aa7ae-b103-44e9-9c36-8c21682b38a4" providerId="AD" clId="Web-{A2FFE97A-23CC-267A-AA7E-2731295143FC}" dt="2025-09-29T17:36:01.754" v="59" actId="20577"/>
        <pc:sldMkLst>
          <pc:docMk/>
          <pc:sldMk cId="155719360" sldId="365"/>
        </pc:sldMkLst>
        <pc:spChg chg="mod">
          <ac:chgData name="Gustavo Beltrao Braga" userId="S::gustavobb1@insper.edu.br::af0aa7ae-b103-44e9-9c36-8c21682b38a4" providerId="AD" clId="Web-{A2FFE97A-23CC-267A-AA7E-2731295143FC}" dt="2025-09-29T17:36:01.754" v="59" actId="20577"/>
          <ac:spMkLst>
            <pc:docMk/>
            <pc:sldMk cId="155719360" sldId="365"/>
            <ac:spMk id="7" creationId="{62FC7030-BB95-563C-7B0A-2FD2E4579B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pt-B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7527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ef444b581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ef444b581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t="1" b="16530"/>
          <a:stretch/>
        </p:blipFill>
        <p:spPr>
          <a:xfrm>
            <a:off x="6094" y="-1"/>
            <a:ext cx="9123426" cy="571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28865"/>
            <a:ext cx="82296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ov"/><Relationship Id="rId13" Type="http://schemas.openxmlformats.org/officeDocument/2006/relationships/image" Target="../media/image8.png"/><Relationship Id="rId3" Type="http://schemas.microsoft.com/office/2007/relationships/media" Target="../media/media2.mov"/><Relationship Id="rId7" Type="http://schemas.microsoft.com/office/2007/relationships/media" Target="../media/media4.mov"/><Relationship Id="rId12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video" Target="../media/media3.mov"/><Relationship Id="rId11" Type="http://schemas.openxmlformats.org/officeDocument/2006/relationships/image" Target="../media/image6.png"/><Relationship Id="rId5" Type="http://schemas.microsoft.com/office/2007/relationships/media" Target="../media/media3.mov"/><Relationship Id="rId10" Type="http://schemas.openxmlformats.org/officeDocument/2006/relationships/image" Target="../media/image5.png"/><Relationship Id="rId4" Type="http://schemas.openxmlformats.org/officeDocument/2006/relationships/video" Target="../media/media2.mov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dertoy.com/view/lX2BRK" TargetMode="External"/><Relationship Id="rId2" Type="http://schemas.openxmlformats.org/officeDocument/2006/relationships/hyperlink" Target="https://www.shadertoy.com/view/wfXyW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hadertoy.com/view/wcjBW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nspirnathan.com/posts/49-shadertoy-tutorial-part-3" TargetMode="External"/><Relationship Id="rId2" Type="http://schemas.openxmlformats.org/officeDocument/2006/relationships/hyperlink" Target="https://www.shadertoy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bookofshaders.com/" TargetMode="External"/><Relationship Id="rId4" Type="http://schemas.openxmlformats.org/officeDocument/2006/relationships/hyperlink" Target="https://iquilezles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1600"/>
            </a:pPr>
            <a:r>
              <a:rPr lang="en-US" sz="1650" noProof="1"/>
              <a:t>Shaders</a:t>
            </a:r>
            <a:endParaRPr lang="en-US" noProof="1"/>
          </a:p>
          <a:p>
            <a:pPr marL="0" indent="0">
              <a:spcBef>
                <a:spcPts val="0"/>
              </a:spcBef>
              <a:buSzPts val="16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254E-4E8A-74A2-D349-7BF8FF72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ShaderToy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1FF63-DB3C-C772-0FDF-A8684003B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www.shadertoy.com</a:t>
            </a:r>
            <a:r>
              <a:rPr lang="en-US" dirty="0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1C633-5016-0CC6-6904-1664252AE9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92C5C-8440-672B-8861-21EFDA2F7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64" y="1367426"/>
            <a:ext cx="7772400" cy="380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4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50AE-2940-DFE5-01B2-525581120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Uniforms</a:t>
            </a:r>
            <a:r>
              <a:rPr lang="pt-BR" dirty="0"/>
              <a:t> padrões do </a:t>
            </a:r>
            <a:r>
              <a:rPr lang="pt-BR" dirty="0" err="1"/>
              <a:t>Shadertoy</a:t>
            </a:r>
            <a:r>
              <a:rPr lang="pt-BR" dirty="0"/>
              <a:t> (GLSL)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94075-3DA5-0907-6A15-DFDC25BAE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3" y="783000"/>
            <a:ext cx="9059828" cy="4731392"/>
          </a:xfrm>
        </p:spPr>
        <p:txBody>
          <a:bodyPr>
            <a:noAutofit/>
          </a:bodyPr>
          <a:lstStyle/>
          <a:p>
            <a:pPr marL="7938" indent="-7938">
              <a:tabLst>
                <a:tab pos="3503613" algn="l"/>
              </a:tabLst>
            </a:pPr>
            <a:r>
              <a:rPr lang="en-US" sz="1650" b="1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vec3 iResolution;	// Resolução do viewport, em pixels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b="1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float iTime;	// Tempo de reprodução do shader, em segundos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float iTimeDelta;	// Intervalo entre quadros, em segundos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float iFrameRate;	// Taxa de quadros por segundo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int    iFrame;	// Número do quadro atual</a:t>
            </a:r>
          </a:p>
          <a:p>
            <a:pPr marL="7938" indent="-7938">
              <a:tabLst>
                <a:tab pos="3503613" algn="l"/>
              </a:tabLst>
            </a:pPr>
            <a:endParaRPr lang="en-US" sz="1650" i="0" noProof="1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float iChannelTime[4];	// Tempo de reprodução de cada canal, em segundos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vec3 iChannelResolution[4];	// Resolução de cada canal, em pixels</a:t>
            </a:r>
          </a:p>
          <a:p>
            <a:pPr marL="7938" indent="-7938">
              <a:tabLst>
                <a:tab pos="3503613" algn="l"/>
              </a:tabLst>
            </a:pPr>
            <a:endParaRPr lang="en-US" sz="1650" i="0" noProof="1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vec4  iMouse; 	// Coordenadas do mouse, em pixels: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		// xy: posição atual com o botão esquerdo pressionado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	// zw: posição do clique</a:t>
            </a:r>
          </a:p>
          <a:p>
            <a:pPr marL="7938" indent="-7938">
              <a:tabLst>
                <a:tab pos="3503613" algn="l"/>
              </a:tabLst>
            </a:pPr>
            <a:endParaRPr lang="en-US" sz="1650" i="0" noProof="1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vec4 iDate;	// Ano, mês, dia e segundos desde a meia-noite</a:t>
            </a:r>
          </a:p>
          <a:p>
            <a:pPr marL="7938" indent="-7938">
              <a:tabLst>
                <a:tab pos="3503613" algn="l"/>
              </a:tabLst>
            </a:pPr>
            <a:r>
              <a:rPr lang="en-US" sz="1650" i="0" noProof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uniform float iSampleRate;	// Taxa de amostragem do áudio, em Hz (ex.: 44100)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BD5B-FBBA-CB1B-D402-D88095185A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70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9180-1395-A10F-B193-7A47E10B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0DEB-4CF9-A14F-8BE6-6BC52062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Uniforms</a:t>
            </a:r>
            <a:r>
              <a:rPr lang="pt-BR" dirty="0"/>
              <a:t> padrões do </a:t>
            </a:r>
            <a:r>
              <a:rPr lang="pt-BR" dirty="0" err="1"/>
              <a:t>Shadertoy</a:t>
            </a:r>
            <a:r>
              <a:rPr lang="pt-BR" dirty="0"/>
              <a:t> (GLSL)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B4FBF-D70A-B0D7-9F68-918F5FC7D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3" y="783000"/>
            <a:ext cx="9059828" cy="4731392"/>
          </a:xfrm>
        </p:spPr>
        <p:txBody>
          <a:bodyPr>
            <a:noAutofit/>
          </a:bodyPr>
          <a:lstStyle/>
          <a:p>
            <a:pPr marL="7938" indent="-7938">
              <a:tabLst>
                <a:tab pos="3503613" algn="l"/>
              </a:tabLst>
            </a:pPr>
            <a:r>
              <a:rPr lang="en-BR" sz="1800" b="1" dirty="0"/>
              <a:t>Samplers: acesso às entradas</a:t>
            </a:r>
            <a:endParaRPr lang="en-BR" sz="1800" dirty="0"/>
          </a:p>
          <a:p>
            <a:pPr marL="7938" indent="-7938">
              <a:tabLst>
                <a:tab pos="3503613" algn="l"/>
              </a:tabLst>
            </a:pPr>
            <a:r>
              <a:rPr lang="en-BR" sz="1800" dirty="0"/>
              <a:t>Um </a:t>
            </a:r>
            <a:r>
              <a:rPr lang="en-BR" sz="1800" i="1" dirty="0"/>
              <a:t>sampler</a:t>
            </a:r>
            <a:r>
              <a:rPr lang="en-BR" sz="1800" dirty="0"/>
              <a:t> permite consultar uma textura. Seu tipo depende da entrada configurada:</a:t>
            </a:r>
          </a:p>
          <a:p>
            <a:pPr marL="7938" indent="-7938">
              <a:tabLst>
                <a:tab pos="3503613" algn="l"/>
              </a:tabLst>
            </a:pPr>
            <a:endParaRPr lang="en-BR" sz="1800" dirty="0"/>
          </a:p>
          <a:p>
            <a:r>
              <a:rPr lang="en-BR" dirty="0"/>
              <a:t>uniform sampler2D   iChannel0; // Textura 2D</a:t>
            </a:r>
          </a:p>
          <a:p>
            <a:r>
              <a:rPr lang="en-BR" dirty="0"/>
              <a:t>uniform samplerCube iChannel1; // Cubemap</a:t>
            </a:r>
          </a:p>
          <a:p>
            <a:pPr marL="7938" indent="-7938">
              <a:tabLst>
                <a:tab pos="3503613" algn="l"/>
              </a:tabLst>
            </a:pPr>
            <a:endParaRPr lang="en-US" sz="1650" i="0" noProof="1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82727-507F-B7EC-11DA-FF6A00B8D9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68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4757-2FBA-FD0F-D446-F2C8A83C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com Vetores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7281D-B426-44AA-02B3-C6A850468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/>
              <a:t>Um recurso interessante é o </a:t>
            </a:r>
            <a:r>
              <a:rPr lang="pt-BR" b="1" err="1"/>
              <a:t>swizzling</a:t>
            </a:r>
            <a:r>
              <a:rPr lang="pt-BR"/>
              <a:t>, onde você pode combinar e misturar os valores do vetor, por exemplo: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sz="1400"/>
          </a:p>
          <a:p>
            <a:r>
              <a:rPr lang="pt-BR"/>
              <a:t>Na construção de vetores, várias formas de combinação também são viáveis, por exemplo: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64F33-34E4-DE21-4DAD-247E3FB608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7FABE-1D11-561A-D0F2-6081017F2E64}"/>
              </a:ext>
            </a:extLst>
          </p:cNvPr>
          <p:cNvSpPr txBox="1"/>
          <p:nvPr/>
        </p:nvSpPr>
        <p:spPr>
          <a:xfrm>
            <a:off x="4688586" y="5390585"/>
            <a:ext cx="3678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/>
              <a:t>Referência: https://</a:t>
            </a:r>
            <a:r>
              <a:rPr lang="pt-BR" err="1"/>
              <a:t>learnopengl.com</a:t>
            </a:r>
            <a:r>
              <a:rPr lang="pt-BR"/>
              <a:t>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10D1E-22D5-5884-A668-A1ABCC9A8C36}"/>
              </a:ext>
            </a:extLst>
          </p:cNvPr>
          <p:cNvSpPr txBox="1"/>
          <p:nvPr/>
        </p:nvSpPr>
        <p:spPr>
          <a:xfrm>
            <a:off x="1418767" y="1759386"/>
            <a:ext cx="6539638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vec2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someVec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vec2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</a:t>
            </a:r>
            <a:r>
              <a:rPr lang="en-US" sz="1600" noProof="1">
                <a:solidFill>
                  <a:srgbClr val="FFCD22"/>
                </a:solidFill>
                <a:latin typeface="Courier New" panose="02070309020205020404" pitchFamily="49" charset="0"/>
              </a:rPr>
              <a:t>0.2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, </a:t>
            </a:r>
            <a:r>
              <a:rPr lang="en-US" sz="1600" noProof="1">
                <a:solidFill>
                  <a:srgbClr val="FFCD22"/>
                </a:solidFill>
                <a:latin typeface="Courier New" panose="02070309020205020404" pitchFamily="49" charset="0"/>
              </a:rPr>
              <a:t>0.6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);</a:t>
            </a:r>
            <a:endParaRPr lang="en-US" sz="1600" b="0" i="0" noProof="1">
              <a:solidFill>
                <a:srgbClr val="E0E2E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differentVec = someVec.xyxx;</a:t>
            </a:r>
          </a:p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vec3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anotherVec = differentVec.zyw;</a:t>
            </a:r>
          </a:p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otherVec = someVec.xxxx + anotherVec.yxzy;</a:t>
            </a:r>
            <a:endParaRPr lang="en-US" sz="1600" noProof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404A8-EC22-C05E-7C9E-928136E43953}"/>
              </a:ext>
            </a:extLst>
          </p:cNvPr>
          <p:cNvSpPr txBox="1"/>
          <p:nvPr/>
        </p:nvSpPr>
        <p:spPr>
          <a:xfrm>
            <a:off x="1418767" y="4018298"/>
            <a:ext cx="6539638" cy="8309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vec2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vect =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vec2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i="0" noProof="1">
                <a:solidFill>
                  <a:srgbClr val="FFCD22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i="0" noProof="1">
                <a:solidFill>
                  <a:srgbClr val="FFCD22"/>
                </a:solidFill>
                <a:effectLst/>
                <a:latin typeface="Courier New" panose="02070309020205020404" pitchFamily="49" charset="0"/>
              </a:rPr>
              <a:t>0.7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result =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(vect, </a:t>
            </a:r>
            <a:r>
              <a:rPr lang="en-US" sz="1600" b="0" i="0" noProof="1">
                <a:solidFill>
                  <a:srgbClr val="FFCD22"/>
                </a:solidFill>
                <a:effectLst/>
                <a:latin typeface="Courier New" panose="02070309020205020404" pitchFamily="49" charset="0"/>
              </a:rPr>
              <a:t>0.0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i="0" noProof="1">
                <a:solidFill>
                  <a:srgbClr val="FFCD22"/>
                </a:solidFill>
                <a:effectLst/>
                <a:latin typeface="Courier New" panose="02070309020205020404" pitchFamily="49" charset="0"/>
              </a:rPr>
              <a:t>0.0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otherResult =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(result.xyz, </a:t>
            </a:r>
            <a:r>
              <a:rPr lang="en-US" sz="1600" b="0" i="0" noProof="1">
                <a:solidFill>
                  <a:srgbClr val="FFCD22"/>
                </a:solidFill>
                <a:effectLst/>
                <a:latin typeface="Courier New" panose="02070309020205020404" pitchFamily="49" charset="0"/>
              </a:rPr>
              <a:t>1.0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sz="1600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166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3622-53E4-43EB-BFD2-5BE0F5F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50" noProof="0"/>
              <a:t>Live Coding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8C92-0735-B5EB-7246-90E06A21B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pic>
        <p:nvPicPr>
          <p:cNvPr id="11" name="Picture 10" descr="mavimedia giphyupload code developer yazılım GIF">
            <a:extLst>
              <a:ext uri="{FF2B5EF4-FFF2-40B4-BE49-F238E27FC236}">
                <a16:creationId xmlns:a16="http://schemas.microsoft.com/office/drawing/2014/main" id="{5B2E7726-B82C-B2AD-6346-2B10835AE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72" y="1011473"/>
            <a:ext cx="6948239" cy="38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31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3622-53E4-43EB-BFD2-5BE0F5F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50" err="1"/>
              <a:t>Fragment</a:t>
            </a:r>
            <a:r>
              <a:rPr lang="pt-BR" sz="2650"/>
              <a:t> </a:t>
            </a:r>
            <a:r>
              <a:rPr lang="pt-BR" sz="2650" err="1"/>
              <a:t>Shader</a:t>
            </a:r>
            <a:r>
              <a:rPr lang="pt-BR" sz="2650"/>
              <a:t> - Atividade</a:t>
            </a: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8C92-0735-B5EB-7246-90E06A21B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pic>
        <p:nvPicPr>
          <p:cNvPr id="5" name="capture">
            <a:hlinkClick r:id="" action="ppaction://media"/>
            <a:extLst>
              <a:ext uri="{FF2B5EF4-FFF2-40B4-BE49-F238E27FC236}">
                <a16:creationId xmlns:a16="http://schemas.microsoft.com/office/drawing/2014/main" id="{FA8D82F7-8243-0968-DA2A-327D84C7A4F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584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800100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4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3622-53E4-43EB-BFD2-5BE0F5F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50" err="1"/>
              <a:t>Fragment</a:t>
            </a:r>
            <a:r>
              <a:rPr lang="pt-BR" sz="2650"/>
              <a:t> </a:t>
            </a:r>
            <a:r>
              <a:rPr lang="pt-BR" sz="2650" err="1"/>
              <a:t>Shader</a:t>
            </a:r>
            <a:r>
              <a:rPr lang="pt-BR" sz="2650"/>
              <a:t> - </a:t>
            </a:r>
            <a:r>
              <a:rPr lang="pt-BR" sz="2700"/>
              <a:t>Atividade</a:t>
            </a: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8C92-0735-B5EB-7246-90E06A21B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  <p:pic>
        <p:nvPicPr>
          <p:cNvPr id="5" name="capture">
            <a:hlinkClick r:id="" action="ppaction://media"/>
            <a:extLst>
              <a:ext uri="{FF2B5EF4-FFF2-40B4-BE49-F238E27FC236}">
                <a16:creationId xmlns:a16="http://schemas.microsoft.com/office/drawing/2014/main" id="{FA8D82F7-8243-0968-DA2A-327D84C7A4F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584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35870" y="846263"/>
            <a:ext cx="3304026" cy="1857422"/>
          </a:xfrm>
          <a:prstGeom prst="rect">
            <a:avLst/>
          </a:prstGeom>
        </p:spPr>
      </p:pic>
      <p:pic>
        <p:nvPicPr>
          <p:cNvPr id="3" name="Screen Recording 2024-10-23 at 18.36.21">
            <a:hlinkClick r:id="" action="ppaction://media"/>
            <a:extLst>
              <a:ext uri="{FF2B5EF4-FFF2-40B4-BE49-F238E27FC236}">
                <a16:creationId xmlns:a16="http://schemas.microsoft.com/office/drawing/2014/main" id="{0847B116-FD94-EBB7-DB38-71C7E2C6519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00492" y="3561534"/>
            <a:ext cx="2943990" cy="1611004"/>
          </a:xfrm>
          <a:prstGeom prst="rect">
            <a:avLst/>
          </a:prstGeom>
        </p:spPr>
      </p:pic>
      <p:pic>
        <p:nvPicPr>
          <p:cNvPr id="7" name="Screen Recording 2024-10-23 at 18.57.58">
            <a:hlinkClick r:id="" action="ppaction://media"/>
            <a:extLst>
              <a:ext uri="{FF2B5EF4-FFF2-40B4-BE49-F238E27FC236}">
                <a16:creationId xmlns:a16="http://schemas.microsoft.com/office/drawing/2014/main" id="{2F9E6268-A0C4-E491-ED0B-C5B45F61D79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088768" y="3561533"/>
            <a:ext cx="2925528" cy="16110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B1465B-732C-4921-D4ED-DA05F8E35286}"/>
              </a:ext>
            </a:extLst>
          </p:cNvPr>
          <p:cNvSpPr txBox="1"/>
          <p:nvPr/>
        </p:nvSpPr>
        <p:spPr>
          <a:xfrm>
            <a:off x="235497" y="3094593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/>
              <a:t>Desafios:</a:t>
            </a:r>
          </a:p>
        </p:txBody>
      </p:sp>
      <p:pic>
        <p:nvPicPr>
          <p:cNvPr id="11" name="Screen Recording 2024-10-23 at 19.18.11">
            <a:hlinkClick r:id="" action="ppaction://media"/>
            <a:extLst>
              <a:ext uri="{FF2B5EF4-FFF2-40B4-BE49-F238E27FC236}">
                <a16:creationId xmlns:a16="http://schemas.microsoft.com/office/drawing/2014/main" id="{0BE5D50B-FFD3-26EA-1EE7-F8C06D185469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245403" y="3561534"/>
            <a:ext cx="2920912" cy="16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7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8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6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88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>
                <p:cTn id="20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1844-BF2D-00D6-86A1-837EFA84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18FD-07B1-674D-DE74-EED9EE3F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50" dirty="0" err="1"/>
              <a:t>Projeto</a:t>
            </a:r>
            <a:r>
              <a:rPr lang="en-US" sz="2650" dirty="0"/>
              <a:t>: </a:t>
            </a:r>
            <a:r>
              <a:rPr lang="en-US" sz="2650" dirty="0" err="1"/>
              <a:t>Dicas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B0C66-2FB0-BAA7-E743-147AE9664C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C7030-BB95-563C-7B0A-2FD2E4579B54}"/>
              </a:ext>
            </a:extLst>
          </p:cNvPr>
          <p:cNvSpPr txBox="1"/>
          <p:nvPr/>
        </p:nvSpPr>
        <p:spPr>
          <a:xfrm>
            <a:off x="237145" y="716748"/>
            <a:ext cx="6322938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Links do </a:t>
            </a:r>
            <a:r>
              <a:rPr lang="en-US" sz="1800" b="1" dirty="0" err="1"/>
              <a:t>código</a:t>
            </a:r>
            <a:r>
              <a:rPr lang="en-US" sz="1800" b="1" dirty="0"/>
              <a:t> da aula e outros:</a:t>
            </a:r>
            <a:endParaRPr lang="en-US" dirty="0"/>
          </a:p>
          <a:p>
            <a:endParaRPr lang="en-US" sz="1800" b="1" dirty="0"/>
          </a:p>
          <a:p>
            <a:r>
              <a:rPr lang="en-US" sz="1800" dirty="0"/>
              <a:t>Aula:</a:t>
            </a:r>
            <a:r>
              <a:rPr lang="en-US" sz="1800" b="1" dirty="0"/>
              <a:t> </a:t>
            </a:r>
            <a:r>
              <a:rPr lang="en-US" sz="1800" dirty="0">
                <a:hlinkClick r:id="rId2"/>
              </a:rPr>
              <a:t>https://www.shadertoy.com/view/wfXyWX#</a:t>
            </a:r>
            <a:endParaRPr lang="en-US" sz="1800" b="1" dirty="0"/>
          </a:p>
          <a:p>
            <a:r>
              <a:rPr lang="en-US" sz="1800" err="1"/>
              <a:t>Funções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https://www.shadertoy.com/view/lX2BRK</a:t>
            </a:r>
            <a:endParaRPr lang="en-US" sz="1800" dirty="0"/>
          </a:p>
          <a:p>
            <a:r>
              <a:rPr lang="en-US" sz="1800" dirty="0"/>
              <a:t>FFT e </a:t>
            </a:r>
            <a:r>
              <a:rPr lang="en-US" sz="1800" dirty="0" err="1"/>
              <a:t>música</a:t>
            </a:r>
            <a:r>
              <a:rPr lang="en-US" sz="1800" dirty="0"/>
              <a:t>: </a:t>
            </a:r>
            <a:r>
              <a:rPr lang="en-US" sz="1800" dirty="0">
                <a:hlinkClick r:id="rId4"/>
              </a:rPr>
              <a:t>https://www.shadertoy.com/view/wcjBWt</a:t>
            </a:r>
          </a:p>
          <a:p>
            <a:pPr>
              <a:buChar char="•"/>
            </a:pPr>
            <a:endParaRPr lang="en-US" sz="1800" dirty="0"/>
          </a:p>
          <a:p>
            <a:endParaRPr lang="en-US" sz="1800" dirty="0"/>
          </a:p>
          <a:p>
            <a:pPr>
              <a:buChar char="•"/>
            </a:pPr>
            <a:endParaRPr lang="en-US" sz="1800" dirty="0"/>
          </a:p>
          <a:p>
            <a:pPr>
              <a:buChar char="•"/>
            </a:pPr>
            <a:endParaRPr lang="en-US" sz="1800" b="1" dirty="0"/>
          </a:p>
          <a:p>
            <a:pPr marL="285750" indent="-285750">
              <a:buChar char="•"/>
            </a:pPr>
            <a:endParaRPr lang="en-US" sz="1800" b="1" dirty="0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19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2F02-CFAA-2241-EB0D-302E5730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C5517-DEEA-D3D5-173B-95ED5A8B0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Baseado:</a:t>
            </a:r>
          </a:p>
          <a:p>
            <a:r>
              <a:rPr lang="pt-BR">
                <a:hlinkClick r:id="rId2"/>
              </a:rPr>
              <a:t>https://www.shadertoy.com/</a:t>
            </a:r>
            <a:endParaRPr lang="pt-BR"/>
          </a:p>
          <a:p>
            <a:endParaRPr lang="pt-BR"/>
          </a:p>
          <a:p>
            <a:r>
              <a:rPr lang="pt-BR"/>
              <a:t>Usando:</a:t>
            </a:r>
          </a:p>
          <a:p>
            <a:r>
              <a:rPr lang="pt-BR">
                <a:hlinkClick r:id="rId3"/>
              </a:rPr>
              <a:t>https://inspirnathan.com/posts/49-shadertoy-tutorial-part-3</a:t>
            </a:r>
            <a:endParaRPr lang="pt-BR"/>
          </a:p>
          <a:p>
            <a:endParaRPr lang="pt-BR"/>
          </a:p>
          <a:p>
            <a:r>
              <a:rPr lang="pt-BR"/>
              <a:t>Documentações:</a:t>
            </a:r>
          </a:p>
          <a:p>
            <a:r>
              <a:rPr lang="pt-BR">
                <a:hlinkClick r:id="rId4"/>
              </a:rPr>
              <a:t>https://iquilezles.org/</a:t>
            </a:r>
            <a:r>
              <a:rPr lang="pt-BR"/>
              <a:t> </a:t>
            </a:r>
          </a:p>
          <a:p>
            <a:r>
              <a:rPr lang="pt-BR">
                <a:hlinkClick r:id="rId5"/>
              </a:rPr>
              <a:t>https://thebookofshaders.com/</a:t>
            </a:r>
            <a:endParaRPr lang="pt-BR"/>
          </a:p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0CFA4-E100-183E-9132-65E74F1376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18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4" name="Google Shape;926;p84">
            <a:extLst>
              <a:ext uri="{FF2B5EF4-FFF2-40B4-BE49-F238E27FC236}">
                <a16:creationId xmlns:a16="http://schemas.microsoft.com/office/drawing/2014/main" id="{84ADE440-70D3-7993-9C1F-B5C671CFA3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66787" y="2400300"/>
            <a:ext cx="7343775" cy="328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200"/>
              <a:t>Luciano Soares</a:t>
            </a:r>
            <a:br>
              <a:rPr lang="pt-BR" sz="2200"/>
            </a:br>
            <a:r>
              <a:rPr lang="pt-BR" sz="2200"/>
              <a:t>&lt;</a:t>
            </a:r>
            <a:r>
              <a:rPr lang="pt-BR" sz="2200" err="1"/>
              <a:t>lpsoares@insper.edu.br</a:t>
            </a:r>
            <a:r>
              <a:rPr lang="pt-BR" sz="2200"/>
              <a:t>&gt;</a:t>
            </a:r>
          </a:p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200"/>
              <a:t>Fabio Orfali</a:t>
            </a:r>
            <a:br>
              <a:rPr lang="en-BR" sz="2200"/>
            </a:br>
            <a:r>
              <a:rPr lang="en-BR" sz="2200"/>
              <a:t>&lt;fabioo1@insper.edu.br&gt;</a:t>
            </a:r>
            <a:endParaRPr lang="pt-BR" sz="2200"/>
          </a:p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200"/>
              <a:t>Gustavo Braga</a:t>
            </a:r>
            <a:br>
              <a:rPr lang="en-BR" sz="2200"/>
            </a:br>
            <a:r>
              <a:rPr lang="en-US" sz="2200"/>
              <a:t>&lt;gustavobb1@insper.edu.br&gt;</a:t>
            </a:r>
            <a:endParaRPr sz="2200"/>
          </a:p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475</Words>
  <Application>Microsoft Macintosh PowerPoint</Application>
  <PresentationFormat>On-screen Show (16:10)</PresentationFormat>
  <Paragraphs>81</Paragraphs>
  <Slides>11</Slides>
  <Notes>3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Tahoma</vt:lpstr>
      <vt:lpstr>Verdana</vt:lpstr>
      <vt:lpstr>Personalizar design</vt:lpstr>
      <vt:lpstr>PowerPoint Presentation</vt:lpstr>
      <vt:lpstr>ShaderToy</vt:lpstr>
      <vt:lpstr>Uniforms padrões do Shadertoy (GLSL)</vt:lpstr>
      <vt:lpstr>Uniforms padrões do Shadertoy (GLSL)</vt:lpstr>
      <vt:lpstr>Exemplo com Vetores</vt:lpstr>
      <vt:lpstr>Live Coding</vt:lpstr>
      <vt:lpstr>Fragment Shader - Atividade</vt:lpstr>
      <vt:lpstr>Fragment Shader - Atividade</vt:lpstr>
      <vt:lpstr>Projeto: Dicas</vt:lpstr>
      <vt:lpstr>Referências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Pereira Soares</cp:lastModifiedBy>
  <cp:revision>38</cp:revision>
  <cp:lastPrinted>2023-05-03T11:33:42Z</cp:lastPrinted>
  <dcterms:modified xsi:type="dcterms:W3CDTF">2026-10-19T00:12:17Z</dcterms:modified>
</cp:coreProperties>
</file>