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43"/>
  </p:notesMasterIdLst>
  <p:sldIdLst>
    <p:sldId id="256" r:id="rId2"/>
    <p:sldId id="257" r:id="rId3"/>
    <p:sldId id="332" r:id="rId4"/>
    <p:sldId id="335" r:id="rId5"/>
    <p:sldId id="264" r:id="rId6"/>
    <p:sldId id="265" r:id="rId7"/>
    <p:sldId id="266" r:id="rId8"/>
    <p:sldId id="267" r:id="rId9"/>
    <p:sldId id="268" r:id="rId10"/>
    <p:sldId id="269" r:id="rId11"/>
    <p:sldId id="271" r:id="rId12"/>
    <p:sldId id="272" r:id="rId13"/>
    <p:sldId id="274" r:id="rId14"/>
    <p:sldId id="357" r:id="rId15"/>
    <p:sldId id="262" r:id="rId16"/>
    <p:sldId id="275" r:id="rId17"/>
    <p:sldId id="276" r:id="rId18"/>
    <p:sldId id="281" r:id="rId19"/>
    <p:sldId id="277" r:id="rId20"/>
    <p:sldId id="279" r:id="rId21"/>
    <p:sldId id="278" r:id="rId22"/>
    <p:sldId id="280" r:id="rId23"/>
    <p:sldId id="282" r:id="rId24"/>
    <p:sldId id="315" r:id="rId25"/>
    <p:sldId id="283" r:id="rId26"/>
    <p:sldId id="284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6" r:id="rId35"/>
    <p:sldId id="297" r:id="rId36"/>
    <p:sldId id="298" r:id="rId37"/>
    <p:sldId id="299" r:id="rId38"/>
    <p:sldId id="300" r:id="rId39"/>
    <p:sldId id="302" r:id="rId40"/>
    <p:sldId id="354" r:id="rId41"/>
    <p:sldId id="308" r:id="rId42"/>
  </p:sldIdLst>
  <p:sldSz cx="9144000" cy="5715000" type="screen16x10"/>
  <p:notesSz cx="6858000" cy="9144000"/>
  <p:embeddedFontLst>
    <p:embeddedFont>
      <p:font typeface="Cambria Math" panose="02040503050406030204" pitchFamily="18" charset="0"/>
      <p:regular r:id="rId44"/>
    </p:embeddedFont>
    <p:embeddedFont>
      <p:font typeface="Verdana" panose="020B060403050404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7BBA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926358-9F74-4BEF-8EF6-D37E8E835603}" v="1" dt="2024-09-11T21:22:16.4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63"/>
    <p:restoredTop sz="86164"/>
  </p:normalViewPr>
  <p:slideViewPr>
    <p:cSldViewPr snapToGrid="0">
      <p:cViewPr varScale="1">
        <p:scale>
          <a:sx n="135" d="100"/>
          <a:sy n="135" d="100"/>
        </p:scale>
        <p:origin x="1002" y="120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ano Pereira Soares" userId="16c53e34-c952-423e-8700-c0525d23304f" providerId="ADAL" clId="{7C926358-9F74-4BEF-8EF6-D37E8E835603}"/>
    <pc:docChg chg="addSld modSld">
      <pc:chgData name="Luciano Pereira Soares" userId="16c53e34-c952-423e-8700-c0525d23304f" providerId="ADAL" clId="{7C926358-9F74-4BEF-8EF6-D37E8E835603}" dt="2024-09-11T21:22:16.426" v="0"/>
      <pc:docMkLst>
        <pc:docMk/>
      </pc:docMkLst>
      <pc:sldChg chg="add">
        <pc:chgData name="Luciano Pereira Soares" userId="16c53e34-c952-423e-8700-c0525d23304f" providerId="ADAL" clId="{7C926358-9F74-4BEF-8EF6-D37E8E835603}" dt="2024-09-11T21:22:16.426" v="0"/>
        <pc:sldMkLst>
          <pc:docMk/>
          <pc:sldMk cId="397668908" sldId="310"/>
        </pc:sldMkLst>
      </pc:sldChg>
    </pc:docChg>
  </pc:docChgLst>
  <pc:docChgLst>
    <pc:chgData name="Fabio Orfali" userId="S::fabioo1@insper.edu.br::3730b7a9-9dee-4645-b6eb-7377d594d9d3" providerId="AD" clId="Web-{D4F2C055-90B3-A19E-6297-FFAFC0148293}"/>
    <pc:docChg chg="modSld">
      <pc:chgData name="Fabio Orfali" userId="S::fabioo1@insper.edu.br::3730b7a9-9dee-4645-b6eb-7377d594d9d3" providerId="AD" clId="Web-{D4F2C055-90B3-A19E-6297-FFAFC0148293}" dt="2024-08-19T23:51:47.805" v="11" actId="1076"/>
      <pc:docMkLst>
        <pc:docMk/>
      </pc:docMkLst>
      <pc:sldChg chg="delSp">
        <pc:chgData name="Fabio Orfali" userId="S::fabioo1@insper.edu.br::3730b7a9-9dee-4645-b6eb-7377d594d9d3" providerId="AD" clId="Web-{D4F2C055-90B3-A19E-6297-FFAFC0148293}" dt="2024-08-19T20:54:58.445" v="0"/>
        <pc:sldMkLst>
          <pc:docMk/>
          <pc:sldMk cId="0" sldId="275"/>
        </pc:sldMkLst>
        <pc:picChg chg="del">
          <ac:chgData name="Fabio Orfali" userId="S::fabioo1@insper.edu.br::3730b7a9-9dee-4645-b6eb-7377d594d9d3" providerId="AD" clId="Web-{D4F2C055-90B3-A19E-6297-FFAFC0148293}" dt="2024-08-19T20:54:58.445" v="0"/>
          <ac:picMkLst>
            <pc:docMk/>
            <pc:sldMk cId="0" sldId="275"/>
            <ac:picMk id="1026" creationId="{EE170EF8-3961-AD8F-2EA6-7BAA11E9F5CC}"/>
          </ac:picMkLst>
        </pc:picChg>
      </pc:sldChg>
      <pc:sldChg chg="addSp modSp">
        <pc:chgData name="Fabio Orfali" userId="S::fabioo1@insper.edu.br::3730b7a9-9dee-4645-b6eb-7377d594d9d3" providerId="AD" clId="Web-{D4F2C055-90B3-A19E-6297-FFAFC0148293}" dt="2024-08-19T23:51:47.805" v="11" actId="1076"/>
        <pc:sldMkLst>
          <pc:docMk/>
          <pc:sldMk cId="0" sldId="296"/>
        </pc:sldMkLst>
        <pc:spChg chg="mod">
          <ac:chgData name="Fabio Orfali" userId="S::fabioo1@insper.edu.br::3730b7a9-9dee-4645-b6eb-7377d594d9d3" providerId="AD" clId="Web-{D4F2C055-90B3-A19E-6297-FFAFC0148293}" dt="2024-08-19T23:50:39.740" v="5" actId="20577"/>
          <ac:spMkLst>
            <pc:docMk/>
            <pc:sldMk cId="0" sldId="296"/>
            <ac:spMk id="411" creationId="{00000000-0000-0000-0000-000000000000}"/>
          </ac:spMkLst>
        </pc:spChg>
        <pc:picChg chg="add mod">
          <ac:chgData name="Fabio Orfali" userId="S::fabioo1@insper.edu.br::3730b7a9-9dee-4645-b6eb-7377d594d9d3" providerId="AD" clId="Web-{D4F2C055-90B3-A19E-6297-FFAFC0148293}" dt="2024-08-19T23:51:47.805" v="11" actId="1076"/>
          <ac:picMkLst>
            <pc:docMk/>
            <pc:sldMk cId="0" sldId="296"/>
            <ac:picMk id="2" creationId="{F0AB176C-00D5-5FFA-7367-FB87A63309FE}"/>
          </ac:picMkLst>
        </pc:picChg>
      </pc:sldChg>
    </pc:docChg>
  </pc:docChgLst>
  <pc:docChgLst>
    <pc:chgData name="Luciano Pereira Soares" userId="S::lucianops@insper.edu.br::16c53e34-c952-423e-8700-c0525d23304f" providerId="AD" clId="Web-{215DB9BB-F623-FB87-5160-40AA6EF3B221}"/>
    <pc:docChg chg="addSld modSld">
      <pc:chgData name="Luciano Pereira Soares" userId="S::lucianops@insper.edu.br::16c53e34-c952-423e-8700-c0525d23304f" providerId="AD" clId="Web-{215DB9BB-F623-FB87-5160-40AA6EF3B221}" dt="2024-08-22T18:22:12.563" v="165" actId="20577"/>
      <pc:docMkLst>
        <pc:docMk/>
      </pc:docMkLst>
      <pc:sldChg chg="modSp">
        <pc:chgData name="Luciano Pereira Soares" userId="S::lucianops@insper.edu.br::16c53e34-c952-423e-8700-c0525d23304f" providerId="AD" clId="Web-{215DB9BB-F623-FB87-5160-40AA6EF3B221}" dt="2024-08-22T18:16:53.816" v="128" actId="20577"/>
        <pc:sldMkLst>
          <pc:docMk/>
          <pc:sldMk cId="0" sldId="291"/>
        </pc:sldMkLst>
        <pc:spChg chg="mod">
          <ac:chgData name="Luciano Pereira Soares" userId="S::lucianops@insper.edu.br::16c53e34-c952-423e-8700-c0525d23304f" providerId="AD" clId="Web-{215DB9BB-F623-FB87-5160-40AA6EF3B221}" dt="2024-08-22T18:16:53.816" v="128" actId="20577"/>
          <ac:spMkLst>
            <pc:docMk/>
            <pc:sldMk cId="0" sldId="291"/>
            <ac:spMk id="364" creationId="{00000000-0000-0000-0000-000000000000}"/>
          </ac:spMkLst>
        </pc:spChg>
      </pc:sldChg>
      <pc:sldChg chg="addSp delSp modSp">
        <pc:chgData name="Luciano Pereira Soares" userId="S::lucianops@insper.edu.br::16c53e34-c952-423e-8700-c0525d23304f" providerId="AD" clId="Web-{215DB9BB-F623-FB87-5160-40AA6EF3B221}" dt="2024-08-22T18:19:41.416" v="146" actId="1076"/>
        <pc:sldMkLst>
          <pc:docMk/>
          <pc:sldMk cId="0" sldId="292"/>
        </pc:sldMkLst>
        <pc:spChg chg="add del mod">
          <ac:chgData name="Luciano Pereira Soares" userId="S::lucianops@insper.edu.br::16c53e34-c952-423e-8700-c0525d23304f" providerId="AD" clId="Web-{215DB9BB-F623-FB87-5160-40AA6EF3B221}" dt="2024-08-22T18:15:30.156" v="123"/>
          <ac:spMkLst>
            <pc:docMk/>
            <pc:sldMk cId="0" sldId="292"/>
            <ac:spMk id="3" creationId="{0EDF9A7D-C3AD-17C0-D750-98BD7A1C3D08}"/>
          </ac:spMkLst>
        </pc:spChg>
        <pc:picChg chg="add mod">
          <ac:chgData name="Luciano Pereira Soares" userId="S::lucianops@insper.edu.br::16c53e34-c952-423e-8700-c0525d23304f" providerId="AD" clId="Web-{215DB9BB-F623-FB87-5160-40AA6EF3B221}" dt="2024-08-22T18:19:09.212" v="141" actId="1076"/>
          <ac:picMkLst>
            <pc:docMk/>
            <pc:sldMk cId="0" sldId="292"/>
            <ac:picMk id="4" creationId="{ACDE58B4-EDBC-3E6D-7E56-14CCEB475B9E}"/>
          </ac:picMkLst>
        </pc:picChg>
        <pc:picChg chg="add del mod">
          <ac:chgData name="Luciano Pereira Soares" userId="S::lucianops@insper.edu.br::16c53e34-c952-423e-8700-c0525d23304f" providerId="AD" clId="Web-{215DB9BB-F623-FB87-5160-40AA6EF3B221}" dt="2024-08-22T18:18:52.586" v="137"/>
          <ac:picMkLst>
            <pc:docMk/>
            <pc:sldMk cId="0" sldId="292"/>
            <ac:picMk id="5" creationId="{A6BD1BE8-7E56-49E0-E35F-D7703AD5CFED}"/>
          </ac:picMkLst>
        </pc:picChg>
        <pc:picChg chg="add mod">
          <ac:chgData name="Luciano Pereira Soares" userId="S::lucianops@insper.edu.br::16c53e34-c952-423e-8700-c0525d23304f" providerId="AD" clId="Web-{215DB9BB-F623-FB87-5160-40AA6EF3B221}" dt="2024-08-22T18:19:14.978" v="143" actId="1076"/>
          <ac:picMkLst>
            <pc:docMk/>
            <pc:sldMk cId="0" sldId="292"/>
            <ac:picMk id="6" creationId="{31BA7DDA-0A2C-0E28-D467-9A365CBDA243}"/>
          </ac:picMkLst>
        </pc:picChg>
        <pc:picChg chg="add mod">
          <ac:chgData name="Luciano Pereira Soares" userId="S::lucianops@insper.edu.br::16c53e34-c952-423e-8700-c0525d23304f" providerId="AD" clId="Web-{215DB9BB-F623-FB87-5160-40AA6EF3B221}" dt="2024-08-22T18:19:41.416" v="146" actId="1076"/>
          <ac:picMkLst>
            <pc:docMk/>
            <pc:sldMk cId="0" sldId="292"/>
            <ac:picMk id="7" creationId="{16826EDA-3D5B-271F-A5E6-ABEBCC5FA000}"/>
          </ac:picMkLst>
        </pc:picChg>
        <pc:cxnChg chg="add del mod">
          <ac:chgData name="Luciano Pereira Soares" userId="S::lucianops@insper.edu.br::16c53e34-c952-423e-8700-c0525d23304f" providerId="AD" clId="Web-{215DB9BB-F623-FB87-5160-40AA6EF3B221}" dt="2024-08-22T18:13:29.901" v="119"/>
          <ac:cxnSpMkLst>
            <pc:docMk/>
            <pc:sldMk cId="0" sldId="292"/>
            <ac:cxnSpMk id="2" creationId="{A60A807B-941F-2374-077E-E81A74A482A0}"/>
          </ac:cxnSpMkLst>
        </pc:cxnChg>
      </pc:sldChg>
      <pc:sldChg chg="addSp modSp">
        <pc:chgData name="Luciano Pereira Soares" userId="S::lucianops@insper.edu.br::16c53e34-c952-423e-8700-c0525d23304f" providerId="AD" clId="Web-{215DB9BB-F623-FB87-5160-40AA6EF3B221}" dt="2024-08-22T18:20:58.794" v="163" actId="1076"/>
        <pc:sldMkLst>
          <pc:docMk/>
          <pc:sldMk cId="0" sldId="293"/>
        </pc:sldMkLst>
        <pc:picChg chg="add mod">
          <ac:chgData name="Luciano Pereira Soares" userId="S::lucianops@insper.edu.br::16c53e34-c952-423e-8700-c0525d23304f" providerId="AD" clId="Web-{215DB9BB-F623-FB87-5160-40AA6EF3B221}" dt="2024-08-22T18:20:24.918" v="154" actId="1076"/>
          <ac:picMkLst>
            <pc:docMk/>
            <pc:sldMk cId="0" sldId="293"/>
            <ac:picMk id="3" creationId="{8F6ED0AE-79B4-CB46-07B5-A9E33CC77755}"/>
          </ac:picMkLst>
        </pc:picChg>
        <pc:picChg chg="add mod">
          <ac:chgData name="Luciano Pereira Soares" userId="S::lucianops@insper.edu.br::16c53e34-c952-423e-8700-c0525d23304f" providerId="AD" clId="Web-{215DB9BB-F623-FB87-5160-40AA6EF3B221}" dt="2024-08-22T18:20:28.574" v="155" actId="1076"/>
          <ac:picMkLst>
            <pc:docMk/>
            <pc:sldMk cId="0" sldId="293"/>
            <ac:picMk id="4" creationId="{C70C86E9-D741-9E92-C441-E46F23647CC9}"/>
          </ac:picMkLst>
        </pc:picChg>
        <pc:picChg chg="add mod">
          <ac:chgData name="Luciano Pereira Soares" userId="S::lucianops@insper.edu.br::16c53e34-c952-423e-8700-c0525d23304f" providerId="AD" clId="Web-{215DB9BB-F623-FB87-5160-40AA6EF3B221}" dt="2024-08-22T18:20:36.075" v="157" actId="1076"/>
          <ac:picMkLst>
            <pc:docMk/>
            <pc:sldMk cId="0" sldId="293"/>
            <ac:picMk id="5" creationId="{B73B8D70-52A3-DE12-6E9B-0A4A465E99EC}"/>
          </ac:picMkLst>
        </pc:picChg>
        <pc:picChg chg="add mod">
          <ac:chgData name="Luciano Pereira Soares" userId="S::lucianops@insper.edu.br::16c53e34-c952-423e-8700-c0525d23304f" providerId="AD" clId="Web-{215DB9BB-F623-FB87-5160-40AA6EF3B221}" dt="2024-08-22T18:20:46.856" v="159" actId="1076"/>
          <ac:picMkLst>
            <pc:docMk/>
            <pc:sldMk cId="0" sldId="293"/>
            <ac:picMk id="6" creationId="{8DAB31D9-11BF-7757-B844-9AE2D5EBF3D8}"/>
          </ac:picMkLst>
        </pc:picChg>
        <pc:picChg chg="add mod">
          <ac:chgData name="Luciano Pereira Soares" userId="S::lucianops@insper.edu.br::16c53e34-c952-423e-8700-c0525d23304f" providerId="AD" clId="Web-{215DB9BB-F623-FB87-5160-40AA6EF3B221}" dt="2024-08-22T18:20:55.200" v="161" actId="1076"/>
          <ac:picMkLst>
            <pc:docMk/>
            <pc:sldMk cId="0" sldId="293"/>
            <ac:picMk id="7" creationId="{8AA26C0C-82BC-2FEA-901A-0997E2F70633}"/>
          </ac:picMkLst>
        </pc:picChg>
        <pc:picChg chg="add mod">
          <ac:chgData name="Luciano Pereira Soares" userId="S::lucianops@insper.edu.br::16c53e34-c952-423e-8700-c0525d23304f" providerId="AD" clId="Web-{215DB9BB-F623-FB87-5160-40AA6EF3B221}" dt="2024-08-22T18:20:58.794" v="163" actId="1076"/>
          <ac:picMkLst>
            <pc:docMk/>
            <pc:sldMk cId="0" sldId="293"/>
            <ac:picMk id="8" creationId="{5D259BB7-6BD5-6240-D1B6-972424842097}"/>
          </ac:picMkLst>
        </pc:picChg>
      </pc:sldChg>
      <pc:sldChg chg="modSp">
        <pc:chgData name="Luciano Pereira Soares" userId="S::lucianops@insper.edu.br::16c53e34-c952-423e-8700-c0525d23304f" providerId="AD" clId="Web-{215DB9BB-F623-FB87-5160-40AA6EF3B221}" dt="2024-08-22T18:22:12.563" v="165" actId="20577"/>
        <pc:sldMkLst>
          <pc:docMk/>
          <pc:sldMk cId="0" sldId="294"/>
        </pc:sldMkLst>
        <pc:spChg chg="mod">
          <ac:chgData name="Luciano Pereira Soares" userId="S::lucianops@insper.edu.br::16c53e34-c952-423e-8700-c0525d23304f" providerId="AD" clId="Web-{215DB9BB-F623-FB87-5160-40AA6EF3B221}" dt="2024-08-22T18:22:08" v="164" actId="20577"/>
          <ac:spMkLst>
            <pc:docMk/>
            <pc:sldMk cId="0" sldId="294"/>
            <ac:spMk id="393" creationId="{00000000-0000-0000-0000-000000000000}"/>
          </ac:spMkLst>
        </pc:spChg>
        <pc:spChg chg="mod">
          <ac:chgData name="Luciano Pereira Soares" userId="S::lucianops@insper.edu.br::16c53e34-c952-423e-8700-c0525d23304f" providerId="AD" clId="Web-{215DB9BB-F623-FB87-5160-40AA6EF3B221}" dt="2024-08-22T18:22:12.563" v="165" actId="20577"/>
          <ac:spMkLst>
            <pc:docMk/>
            <pc:sldMk cId="0" sldId="294"/>
            <ac:spMk id="394" creationId="{00000000-0000-0000-0000-000000000000}"/>
          </ac:spMkLst>
        </pc:spChg>
      </pc:sldChg>
      <pc:sldChg chg="mod modShow">
        <pc:chgData name="Luciano Pereira Soares" userId="S::lucianops@insper.edu.br::16c53e34-c952-423e-8700-c0525d23304f" providerId="AD" clId="Web-{215DB9BB-F623-FB87-5160-40AA6EF3B221}" dt="2024-08-22T18:01:18.185" v="0"/>
        <pc:sldMkLst>
          <pc:docMk/>
          <pc:sldMk cId="0" sldId="295"/>
        </pc:sldMkLst>
      </pc:sldChg>
      <pc:sldChg chg="modSp">
        <pc:chgData name="Luciano Pereira Soares" userId="S::lucianops@insper.edu.br::16c53e34-c952-423e-8700-c0525d23304f" providerId="AD" clId="Web-{215DB9BB-F623-FB87-5160-40AA6EF3B221}" dt="2024-08-22T18:02:27.797" v="8"/>
        <pc:sldMkLst>
          <pc:docMk/>
          <pc:sldMk cId="0" sldId="296"/>
        </pc:sldMkLst>
        <pc:picChg chg="mod modCrop">
          <ac:chgData name="Luciano Pereira Soares" userId="S::lucianops@insper.edu.br::16c53e34-c952-423e-8700-c0525d23304f" providerId="AD" clId="Web-{215DB9BB-F623-FB87-5160-40AA6EF3B221}" dt="2024-08-22T18:02:27.797" v="8"/>
          <ac:picMkLst>
            <pc:docMk/>
            <pc:sldMk cId="0" sldId="296"/>
            <ac:picMk id="2" creationId="{F0AB176C-00D5-5FFA-7367-FB87A63309FE}"/>
          </ac:picMkLst>
        </pc:picChg>
        <pc:picChg chg="mod modCrop">
          <ac:chgData name="Luciano Pereira Soares" userId="S::lucianops@insper.edu.br::16c53e34-c952-423e-8700-c0525d23304f" providerId="AD" clId="Web-{215DB9BB-F623-FB87-5160-40AA6EF3B221}" dt="2024-08-22T18:01:47.889" v="4"/>
          <ac:picMkLst>
            <pc:docMk/>
            <pc:sldMk cId="0" sldId="296"/>
            <ac:picMk id="415" creationId="{00000000-0000-0000-0000-000000000000}"/>
          </ac:picMkLst>
        </pc:picChg>
      </pc:sldChg>
      <pc:sldChg chg="addSp modSp addAnim modNotes">
        <pc:chgData name="Luciano Pereira Soares" userId="S::lucianops@insper.edu.br::16c53e34-c952-423e-8700-c0525d23304f" providerId="AD" clId="Web-{215DB9BB-F623-FB87-5160-40AA6EF3B221}" dt="2024-08-22T18:11:25.943" v="114"/>
        <pc:sldMkLst>
          <pc:docMk/>
          <pc:sldMk cId="0" sldId="302"/>
        </pc:sldMkLst>
        <pc:spChg chg="add mod">
          <ac:chgData name="Luciano Pereira Soares" userId="S::lucianops@insper.edu.br::16c53e34-c952-423e-8700-c0525d23304f" providerId="AD" clId="Web-{215DB9BB-F623-FB87-5160-40AA6EF3B221}" dt="2024-08-22T18:07:46.263" v="79" actId="1076"/>
          <ac:spMkLst>
            <pc:docMk/>
            <pc:sldMk cId="0" sldId="302"/>
            <ac:spMk id="2" creationId="{88134299-C3CA-58F9-539C-8107084513E1}"/>
          </ac:spMkLst>
        </pc:spChg>
        <pc:spChg chg="add mod">
          <ac:chgData name="Luciano Pereira Soares" userId="S::lucianops@insper.edu.br::16c53e34-c952-423e-8700-c0525d23304f" providerId="AD" clId="Web-{215DB9BB-F623-FB87-5160-40AA6EF3B221}" dt="2024-08-22T18:09:00.844" v="92" actId="1076"/>
          <ac:spMkLst>
            <pc:docMk/>
            <pc:sldMk cId="0" sldId="302"/>
            <ac:spMk id="3" creationId="{7628E850-2B56-B6DD-F55E-F3B7A9002DF4}"/>
          </ac:spMkLst>
        </pc:spChg>
        <pc:spChg chg="add mod">
          <ac:chgData name="Luciano Pereira Soares" userId="S::lucianops@insper.edu.br::16c53e34-c952-423e-8700-c0525d23304f" providerId="AD" clId="Web-{215DB9BB-F623-FB87-5160-40AA6EF3B221}" dt="2024-08-22T18:07:49.888" v="80" actId="1076"/>
          <ac:spMkLst>
            <pc:docMk/>
            <pc:sldMk cId="0" sldId="302"/>
            <ac:spMk id="5" creationId="{45E07FCF-0ECA-5567-F3CA-278309BE9F3A}"/>
          </ac:spMkLst>
        </pc:spChg>
        <pc:spChg chg="add mod">
          <ac:chgData name="Luciano Pereira Soares" userId="S::lucianops@insper.edu.br::16c53e34-c952-423e-8700-c0525d23304f" providerId="AD" clId="Web-{215DB9BB-F623-FB87-5160-40AA6EF3B221}" dt="2024-08-22T18:10:40.551" v="110" actId="14100"/>
          <ac:spMkLst>
            <pc:docMk/>
            <pc:sldMk cId="0" sldId="302"/>
            <ac:spMk id="7" creationId="{016DCD11-6F5A-B1FE-F2F0-59477A0DBE65}"/>
          </ac:spMkLst>
        </pc:spChg>
        <pc:spChg chg="add mod">
          <ac:chgData name="Luciano Pereira Soares" userId="S::lucianops@insper.edu.br::16c53e34-c952-423e-8700-c0525d23304f" providerId="AD" clId="Web-{215DB9BB-F623-FB87-5160-40AA6EF3B221}" dt="2024-08-22T18:10:50.739" v="112" actId="1076"/>
          <ac:spMkLst>
            <pc:docMk/>
            <pc:sldMk cId="0" sldId="302"/>
            <ac:spMk id="8" creationId="{DD70FAA4-B5A4-CF44-D7D4-870C5AB3C1D2}"/>
          </ac:spMkLst>
        </pc:spChg>
        <pc:spChg chg="mod">
          <ac:chgData name="Luciano Pereira Soares" userId="S::lucianops@insper.edu.br::16c53e34-c952-423e-8700-c0525d23304f" providerId="AD" clId="Web-{215DB9BB-F623-FB87-5160-40AA6EF3B221}" dt="2024-08-22T18:06:10.603" v="53" actId="1076"/>
          <ac:spMkLst>
            <pc:docMk/>
            <pc:sldMk cId="0" sldId="302"/>
            <ac:spMk id="474" creationId="{00000000-0000-0000-0000-000000000000}"/>
          </ac:spMkLst>
        </pc:spChg>
        <pc:picChg chg="mod">
          <ac:chgData name="Luciano Pereira Soares" userId="S::lucianops@insper.edu.br::16c53e34-c952-423e-8700-c0525d23304f" providerId="AD" clId="Web-{215DB9BB-F623-FB87-5160-40AA6EF3B221}" dt="2024-08-22T18:04:31.068" v="20" actId="1076"/>
          <ac:picMkLst>
            <pc:docMk/>
            <pc:sldMk cId="0" sldId="302"/>
            <ac:picMk id="479" creationId="{00000000-0000-0000-0000-000000000000}"/>
          </ac:picMkLst>
        </pc:picChg>
        <pc:cxnChg chg="add mod">
          <ac:chgData name="Luciano Pereira Soares" userId="S::lucianops@insper.edu.br::16c53e34-c952-423e-8700-c0525d23304f" providerId="AD" clId="Web-{215DB9BB-F623-FB87-5160-40AA6EF3B221}" dt="2024-08-22T18:07:14.840" v="63" actId="14100"/>
          <ac:cxnSpMkLst>
            <pc:docMk/>
            <pc:sldMk cId="0" sldId="302"/>
            <ac:cxnSpMk id="4" creationId="{8EC9C563-96ED-78D4-2B14-DE843AA928BB}"/>
          </ac:cxnSpMkLst>
        </pc:cxnChg>
        <pc:cxnChg chg="add mod">
          <ac:chgData name="Luciano Pereira Soares" userId="S::lucianops@insper.edu.br::16c53e34-c952-423e-8700-c0525d23304f" providerId="AD" clId="Web-{215DB9BB-F623-FB87-5160-40AA6EF3B221}" dt="2024-08-22T18:07:53.997" v="81" actId="14100"/>
          <ac:cxnSpMkLst>
            <pc:docMk/>
            <pc:sldMk cId="0" sldId="302"/>
            <ac:cxnSpMk id="6" creationId="{9DBB3272-13EE-54E9-355F-F52E9C555316}"/>
          </ac:cxnSpMkLst>
        </pc:cxnChg>
      </pc:sldChg>
      <pc:sldChg chg="addSp delSp modSp new mod modShow">
        <pc:chgData name="Luciano Pereira Soares" userId="S::lucianops@insper.edu.br::16c53e34-c952-423e-8700-c0525d23304f" providerId="AD" clId="Web-{215DB9BB-F623-FB87-5160-40AA6EF3B221}" dt="2024-08-22T18:03:35.003" v="19"/>
        <pc:sldMkLst>
          <pc:docMk/>
          <pc:sldMk cId="3292897807" sldId="355"/>
        </pc:sldMkLst>
        <pc:spChg chg="del">
          <ac:chgData name="Luciano Pereira Soares" userId="S::lucianops@insper.edu.br::16c53e34-c952-423e-8700-c0525d23304f" providerId="AD" clId="Web-{215DB9BB-F623-FB87-5160-40AA6EF3B221}" dt="2024-08-22T18:02:59.689" v="11"/>
          <ac:spMkLst>
            <pc:docMk/>
            <pc:sldMk cId="3292897807" sldId="355"/>
            <ac:spMk id="2" creationId="{E7E3E3B8-F6E8-105F-A17F-7AFDF211B2A5}"/>
          </ac:spMkLst>
        </pc:spChg>
        <pc:spChg chg="del">
          <ac:chgData name="Luciano Pereira Soares" userId="S::lucianops@insper.edu.br::16c53e34-c952-423e-8700-c0525d23304f" providerId="AD" clId="Web-{215DB9BB-F623-FB87-5160-40AA6EF3B221}" dt="2024-08-22T18:02:58.251" v="10"/>
          <ac:spMkLst>
            <pc:docMk/>
            <pc:sldMk cId="3292897807" sldId="355"/>
            <ac:spMk id="3" creationId="{A0934253-349C-509A-D55E-E5C2020D5535}"/>
          </ac:spMkLst>
        </pc:spChg>
        <pc:picChg chg="add mod modCrop">
          <ac:chgData name="Luciano Pereira Soares" userId="S::lucianops@insper.edu.br::16c53e34-c952-423e-8700-c0525d23304f" providerId="AD" clId="Web-{215DB9BB-F623-FB87-5160-40AA6EF3B221}" dt="2024-08-22T18:03:32.034" v="18" actId="1076"/>
          <ac:picMkLst>
            <pc:docMk/>
            <pc:sldMk cId="3292897807" sldId="355"/>
            <ac:picMk id="5" creationId="{0756518B-00DC-E86B-CB4F-05DFAF16C2C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behreajj.medium.com/3d-rotations-in-processing-vectors-matrices-quaternions-10e2fed5f0a3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barbic.usc.edu/cs420-s15/lec20-quaternions/20-quaternions-6up.pdf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barbic.usc.edu/cs420-s15/lec20-quaternions/20-quaternions-6up.pdf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barbic.usc.edu/cs420-s15/lec20-quaternions/20-quaternions-6up.pdf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Rotation_formalisms_in_three_dimensions" TargetMode="Externa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behreajj.medium.com/3d-rotations-in-processing-vectors-matrices-quaternions-10e2fed5f0a3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ec7d70cc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gec7d70cc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2" name="Google Shape;512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8" name="Google Shape;538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ec7d70cc9b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ec7d70cc9b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ec7d70cc9b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ec7d70cc9b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ed17dde5b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ed17dde5b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ed17dde5b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7" name="Google Shape;117;ged17dde5b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ed17dde5b1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ed17dde5b1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ed17dde5b1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ed17dde5b1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ed17dde5b1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ed17dde5b1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ed17dde5b1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ed17dde5b1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FA8A37F4-4CA2-685F-8445-896DB3C61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4:notes">
            <a:extLst>
              <a:ext uri="{FF2B5EF4-FFF2-40B4-BE49-F238E27FC236}">
                <a16:creationId xmlns:a16="http://schemas.microsoft.com/office/drawing/2014/main" id="{9A9B8931-0C0D-F19D-1B72-A958D117B8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64:notes">
            <a:extLst>
              <a:ext uri="{FF2B5EF4-FFF2-40B4-BE49-F238E27FC236}">
                <a16:creationId xmlns:a16="http://schemas.microsoft.com/office/drawing/2014/main" id="{02368E9F-8558-8FC6-FD3A-3DFBA948D1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64:notes">
            <a:extLst>
              <a:ext uri="{FF2B5EF4-FFF2-40B4-BE49-F238E27FC236}">
                <a16:creationId xmlns:a16="http://schemas.microsoft.com/office/drawing/2014/main" id="{DB99F609-B2AA-7217-CBB3-C69EBE64A4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71755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ec7d70cc9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" name="Google Shape;69;gec7d70cc9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0657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https://upload.wikimedia.org/wikipedia/commons/4/49/Gimbal_Lock_Plane.gif</a:t>
            </a:r>
            <a:endParaRPr/>
          </a:p>
        </p:txBody>
      </p:sp>
      <p:sp>
        <p:nvSpPr>
          <p:cNvPr id="268" name="Google Shape;268;p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sz="1200" dirty="0">
                <a:solidFill>
                  <a:srgbClr val="333333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Helvetica Neue"/>
              </a:rPr>
              <a:t>http://</a:t>
            </a:r>
            <a:r>
              <a:rPr lang="pt-BR" sz="1200" dirty="0" err="1">
                <a:solidFill>
                  <a:srgbClr val="333333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Helvetica Neue"/>
              </a:rPr>
              <a:t>www.flickr.com</a:t>
            </a:r>
            <a:r>
              <a:rPr lang="pt-BR" sz="1200" dirty="0">
                <a:solidFill>
                  <a:srgbClr val="333333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Helvetica Neue"/>
              </a:rPr>
              <a:t>/</a:t>
            </a:r>
            <a:r>
              <a:rPr lang="pt-BR" sz="1200" dirty="0" err="1">
                <a:solidFill>
                  <a:srgbClr val="333333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Helvetica Neue"/>
              </a:rPr>
              <a:t>photos</a:t>
            </a:r>
            <a:r>
              <a:rPr lang="pt-BR" sz="1200" dirty="0">
                <a:solidFill>
                  <a:srgbClr val="333333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Helvetica Neue"/>
              </a:rPr>
              <a:t>/globetrotter1937/1557776175/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6" name="Google Shape;226;p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ec308e8a95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ec308e8a95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 dirty="0">
                <a:solidFill>
                  <a:schemeClr val="hlink"/>
                </a:solidFill>
                <a:hlinkClick r:id="rId3"/>
              </a:rPr>
              <a:t>https://behreajj.medium.com/3d-rotations-in-processing-vectors-matrices-quaternions-10e2fed5f0a3</a:t>
            </a:r>
            <a:endParaRPr dirty="0"/>
          </a:p>
        </p:txBody>
      </p:sp>
      <p:sp>
        <p:nvSpPr>
          <p:cNvPr id="260" name="Google Shape;260;gec308e8a95_0_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50679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ec308e8a95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ec308e8a95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http://peyman-mass.blogspot.com/2017/11/euler-angles-and-its-unexpected.html</a:t>
            </a:r>
            <a:endParaRPr/>
          </a:p>
        </p:txBody>
      </p:sp>
      <p:sp>
        <p:nvSpPr>
          <p:cNvPr id="286" name="Google Shape;286;gec308e8a95_0_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ea00a57070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ea00a57070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ea00a57070_0_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ea00a5707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ea00a57070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http://barbic.usc.edu/cs420-s15/lec20-quaternions/20-quaternions-6up.pdf</a:t>
            </a:r>
            <a:r>
              <a:rPr lang="pt-BR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ea00a57070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ed17dde5b1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ed17dde5b1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ged17dde5b1_0_1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ea00a57070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ea00a57070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ea00a57070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e9592b20d8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e9592b20d8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http://www.cs.cmu.edu/afs/cs/academic/class/16741-s07/www/lectures/Lecture8.pdf</a:t>
            </a:r>
            <a:endParaRPr/>
          </a:p>
        </p:txBody>
      </p:sp>
      <p:sp>
        <p:nvSpPr>
          <p:cNvPr id="378" name="Google Shape;378;ge9592b20d8_0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e9592b20d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e9592b20d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 dirty="0">
                <a:solidFill>
                  <a:schemeClr val="hlink"/>
                </a:solidFill>
                <a:hlinkClick r:id="rId3"/>
              </a:rPr>
              <a:t>http://barbic.usc.edu/cs420-s15/lec20-quaternions/20-quaternions-6up.pdf</a:t>
            </a:r>
            <a:r>
              <a:rPr lang="pt-BR" dirty="0"/>
              <a:t> </a:t>
            </a:r>
            <a:endParaRPr dirty="0"/>
          </a:p>
        </p:txBody>
      </p:sp>
      <p:sp>
        <p:nvSpPr>
          <p:cNvPr id="388" name="Google Shape;388;ge9592b20d8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ea00a57070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ea00a57070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gea00a57070_0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ea00a57070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ea00a57070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http://barbic.usc.edu/cs420-s15/lec20-quaternions/20-quaternions-6up.pdf</a:t>
            </a:r>
            <a:endParaRPr/>
          </a:p>
        </p:txBody>
      </p:sp>
      <p:sp>
        <p:nvSpPr>
          <p:cNvPr id="419" name="Google Shape;419;gea00a57070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ea00a5707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ea00a5707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http://barbic.usc.edu/cs420-s15/lec20-quaternions/20-quaternions-6up.pdf</a:t>
            </a:r>
            <a:endParaRPr/>
          </a:p>
        </p:txBody>
      </p:sp>
      <p:sp>
        <p:nvSpPr>
          <p:cNvPr id="430" name="Google Shape;430;gea00a57070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ec308e8a95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ec308e8a95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gec308e8a95_0_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e9592b20d8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e9592b20d8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http://barbic.usc.edu/cs420-s15/lec20-quaternions/20-quaternions-6up.pdf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https://en.wikipedia.org/wiki/Rotation_formalisms_in_three_dimensions</a:t>
            </a:r>
            <a:r>
              <a:rPr lang="pt-BR"/>
              <a:t> </a:t>
            </a:r>
            <a:endParaRPr/>
          </a:p>
        </p:txBody>
      </p:sp>
      <p:sp>
        <p:nvSpPr>
          <p:cNvPr id="452" name="Google Shape;452;ge9592b20d8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ec308e8a9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ec308e8a9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 dirty="0">
                <a:solidFill>
                  <a:schemeClr val="hlink"/>
                </a:solidFill>
                <a:hlinkClick r:id="rId3"/>
              </a:rPr>
              <a:t>https://behreajj.medium.com/3d-rotations-in-processing-vectors-matrices-quaternions-10e2fed5f0a3</a:t>
            </a:r>
            <a:endParaRPr dirty="0"/>
          </a:p>
          <a:p>
            <a:pPr marL="0" indent="0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72" name="Google Shape;472;gec308e8a95_0_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e70c122e3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e70c122e3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ge70c122e35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04677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e9592b20d8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ge9592b20d8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4" y="-1"/>
            <a:ext cx="9123426" cy="684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966787" y="2262188"/>
            <a:ext cx="7343775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2"/>
          </p:nvPr>
        </p:nvSpPr>
        <p:spPr>
          <a:xfrm>
            <a:off x="966787" y="2857501"/>
            <a:ext cx="73437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333"/>
              </a:spcBef>
              <a:spcAft>
                <a:spcPts val="0"/>
              </a:spcAft>
              <a:buClr>
                <a:schemeClr val="lt1"/>
              </a:buClr>
              <a:buSzPts val="1667"/>
              <a:buFont typeface="Arial"/>
              <a:buNone/>
              <a:defRPr sz="16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3"/>
          </p:nvPr>
        </p:nvSpPr>
        <p:spPr>
          <a:xfrm>
            <a:off x="900112" y="5296958"/>
            <a:ext cx="7343775" cy="19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233"/>
              </a:spcBef>
              <a:spcAft>
                <a:spcPts val="0"/>
              </a:spcAft>
              <a:buClr>
                <a:schemeClr val="lt1"/>
              </a:buClr>
              <a:buSzPts val="1167"/>
              <a:buFont typeface="Arial"/>
              <a:buNone/>
              <a:defRPr sz="11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67"/>
              <a:buFont typeface="Verdana"/>
              <a:buNone/>
              <a:defRPr sz="2667" b="0" i="0" u="none" strike="noStrike" cap="none">
                <a:solidFill>
                  <a:srgbClr val="C000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fundo_ppt1_ok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0" y="0"/>
            <a:ext cx="7620000" cy="5715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6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c8b2Jo7mno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jpg"/><Relationship Id="rId4" Type="http://schemas.openxmlformats.org/officeDocument/2006/relationships/hyperlink" Target="http://www.youtube.com/watch?v=zc8b2Jo7mno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jpeg"/><Relationship Id="rId4" Type="http://schemas.openxmlformats.org/officeDocument/2006/relationships/hyperlink" Target="https://pt.wikipedia.org/wiki/%C3%82ngulos_de_Tait%E2%80%93Bryan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gi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3blue1brown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hyperlink" Target="https://eater.net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6787" y="2262188"/>
            <a:ext cx="7343775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</a:pPr>
            <a:r>
              <a:rPr lang="pt-BR"/>
              <a:t>Computação Gráfica</a:t>
            </a: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2"/>
          </p:nvPr>
        </p:nvSpPr>
        <p:spPr>
          <a:xfrm>
            <a:off x="966787" y="2857501"/>
            <a:ext cx="73437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Verdana"/>
              <a:buNone/>
            </a:pPr>
            <a:r>
              <a:rPr lang="pt-BR" dirty="0"/>
              <a:t>Aula 4: Coordenadas Homogêneas e Quatérnios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357900" y="1887897"/>
            <a:ext cx="8428200" cy="19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 sz="3366"/>
              <a:t>Retomando da última aula:</a:t>
            </a:r>
            <a:endParaRPr sz="3366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endParaRPr sz="3366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 sz="3366"/>
              <a:t>Coordenadas Homogêneas (em 2D)</a:t>
            </a:r>
            <a:endParaRPr sz="3366"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1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2600"/>
            </a:pPr>
            <a:r>
              <a:rPr lang="pt-BR" dirty="0"/>
              <a:t>Coordenadas Homogêneas (em 2D ∴ 2D-H)</a:t>
            </a:r>
            <a:endParaRPr dirty="0"/>
          </a:p>
        </p:txBody>
      </p:sp>
      <p:sp>
        <p:nvSpPr>
          <p:cNvPr id="515" name="Google Shape;515;p61"/>
          <p:cNvSpPr txBox="1">
            <a:spLocks noGrp="1"/>
          </p:cNvSpPr>
          <p:nvPr>
            <p:ph type="body" idx="1"/>
          </p:nvPr>
        </p:nvSpPr>
        <p:spPr>
          <a:xfrm>
            <a:off x="390548" y="838986"/>
            <a:ext cx="8428232" cy="425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Adicionar mais uma coordenada (</a:t>
            </a:r>
            <a:r>
              <a:rPr lang="pt-BR" b="1" dirty="0"/>
              <a:t>coordenada </a:t>
            </a:r>
            <a:r>
              <a:rPr lang="pt-BR" b="1" i="1" dirty="0" err="1"/>
              <a:t>w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516" name="Google Shape;516;p61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42D01-0CBA-6D57-11F4-405C4E5D6DD2}"/>
              </a:ext>
            </a:extLst>
          </p:cNvPr>
          <p:cNvSpPr txBox="1"/>
          <p:nvPr/>
        </p:nvSpPr>
        <p:spPr>
          <a:xfrm>
            <a:off x="475013" y="1720160"/>
            <a:ext cx="3881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/>
            <a:r>
              <a:rPr lang="en-US" sz="2400" dirty="0"/>
              <a:t>Ponto 2D :</a:t>
            </a:r>
            <a:r>
              <a:rPr lang="en-US" sz="2400" noProof="1"/>
              <a:t> (x, y) → (x, y, </a:t>
            </a:r>
            <a:r>
              <a:rPr lang="en-US" sz="2400" b="1" noProof="1"/>
              <a:t>1</a:t>
            </a:r>
            <a:r>
              <a:rPr lang="en-US" sz="2400" noProof="1"/>
              <a:t>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4C54A06-1C84-E257-8E34-EEA7D08D882F}"/>
              </a:ext>
            </a:extLst>
          </p:cNvPr>
          <p:cNvGrpSpPr/>
          <p:nvPr/>
        </p:nvGrpSpPr>
        <p:grpSpPr>
          <a:xfrm>
            <a:off x="7014808" y="1400785"/>
            <a:ext cx="1673843" cy="347738"/>
            <a:chOff x="7024640" y="1218561"/>
            <a:chExt cx="1673843" cy="34773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0163891-1515-B602-21FD-ADD4BA9243D5}"/>
                </a:ext>
              </a:extLst>
            </p:cNvPr>
            <p:cNvSpPr txBox="1"/>
            <p:nvPr/>
          </p:nvSpPr>
          <p:spPr>
            <a:xfrm>
              <a:off x="7501405" y="1218561"/>
              <a:ext cx="119707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Transposta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349D937-1E01-ED7E-6B82-6259D27948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4640" y="1370072"/>
              <a:ext cx="565863" cy="196227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FEF3F871-7C92-8527-8EBA-317C362FDD89}"/>
              </a:ext>
            </a:extLst>
          </p:cNvPr>
          <p:cNvSpPr txBox="1"/>
          <p:nvPr/>
        </p:nvSpPr>
        <p:spPr>
          <a:xfrm>
            <a:off x="475013" y="2993715"/>
            <a:ext cx="3881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/>
            <a:r>
              <a:rPr lang="en-US" sz="2400" dirty="0"/>
              <a:t>Vetor 2D</a:t>
            </a:r>
            <a:r>
              <a:rPr lang="en-US" sz="1800" dirty="0"/>
              <a:t>  </a:t>
            </a:r>
            <a:r>
              <a:rPr lang="en-US" sz="2400" noProof="1"/>
              <a:t>: (x, y) → (x, y, </a:t>
            </a:r>
            <a:r>
              <a:rPr lang="en-US" sz="2400" b="1" noProof="1"/>
              <a:t>0</a:t>
            </a:r>
            <a:r>
              <a:rPr lang="en-US" sz="2400" noProof="1"/>
              <a:t>)</a:t>
            </a:r>
            <a:endParaRPr lang="en-US" sz="24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A94B390-4989-B18A-9786-8FF9140326BB}"/>
              </a:ext>
            </a:extLst>
          </p:cNvPr>
          <p:cNvGrpSpPr/>
          <p:nvPr/>
        </p:nvGrpSpPr>
        <p:grpSpPr>
          <a:xfrm>
            <a:off x="5457533" y="2203504"/>
            <a:ext cx="2786264" cy="533570"/>
            <a:chOff x="5502328" y="2029097"/>
            <a:chExt cx="2786264" cy="53357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B2B3065-96EF-5EE7-5A87-9480AEBD4E56}"/>
                </a:ext>
              </a:extLst>
            </p:cNvPr>
            <p:cNvGrpSpPr/>
            <p:nvPr/>
          </p:nvGrpSpPr>
          <p:grpSpPr>
            <a:xfrm>
              <a:off x="5502328" y="2223150"/>
              <a:ext cx="2786264" cy="339517"/>
              <a:chOff x="6392149" y="1175707"/>
              <a:chExt cx="2786264" cy="339517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AA03E88-DFD2-52A4-2A56-B20B03882B0F}"/>
                  </a:ext>
                </a:extLst>
              </p:cNvPr>
              <p:cNvSpPr txBox="1"/>
              <p:nvPr/>
            </p:nvSpPr>
            <p:spPr>
              <a:xfrm>
                <a:off x="7501405" y="1238225"/>
                <a:ext cx="167700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Coord. Homogêneas</a:t>
                </a: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28335014-F3FA-7B84-0B96-FB9DFF9780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92149" y="1175707"/>
                <a:ext cx="1198354" cy="194365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BE05565-3A4D-1375-195E-145F9211FB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8735" y="2029097"/>
              <a:ext cx="83342" cy="27699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8895933-AABD-CF46-9A4D-32551F957210}"/>
              </a:ext>
            </a:extLst>
          </p:cNvPr>
          <p:cNvGrpSpPr/>
          <p:nvPr/>
        </p:nvGrpSpPr>
        <p:grpSpPr>
          <a:xfrm>
            <a:off x="4876404" y="1484774"/>
            <a:ext cx="604861" cy="1038683"/>
            <a:chOff x="4876404" y="1322214"/>
            <a:chExt cx="604861" cy="103868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003D75F-BD7D-FD20-563B-F1C2225D8469}"/>
                </a:ext>
              </a:extLst>
            </p:cNvPr>
            <p:cNvGrpSpPr/>
            <p:nvPr/>
          </p:nvGrpSpPr>
          <p:grpSpPr>
            <a:xfrm>
              <a:off x="4876404" y="1322214"/>
              <a:ext cx="344536" cy="932439"/>
              <a:chOff x="4552902" y="1367027"/>
              <a:chExt cx="298499" cy="8078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78A21C45-F6E4-B3F7-5FFB-49DCDC4DB506}"/>
                      </a:ext>
                    </a:extLst>
                  </p:cNvPr>
                  <p:cNvSpPr txBox="1"/>
                  <p:nvPr/>
                </p:nvSpPr>
                <p:spPr>
                  <a:xfrm>
                    <a:off x="4604664" y="1367028"/>
                    <a:ext cx="183237" cy="73329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2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oMath>
                      </m:oMathPara>
                    </a14:m>
                    <a:endParaRPr lang="en-US" sz="2200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78A21C45-F6E4-B3F7-5FFB-49DCDC4DB5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04664" y="1367028"/>
                    <a:ext cx="183237" cy="73329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3333" r="-33333" b="-1194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Left Bracket 7">
                <a:extLst>
                  <a:ext uri="{FF2B5EF4-FFF2-40B4-BE49-F238E27FC236}">
                    <a16:creationId xmlns:a16="http://schemas.microsoft.com/office/drawing/2014/main" id="{F81382E3-0944-7671-D25D-743453993C32}"/>
                  </a:ext>
                </a:extLst>
              </p:cNvPr>
              <p:cNvSpPr/>
              <p:nvPr/>
            </p:nvSpPr>
            <p:spPr>
              <a:xfrm>
                <a:off x="4552902" y="1367027"/>
                <a:ext cx="63500" cy="807847"/>
              </a:xfrm>
              <a:prstGeom prst="leftBracket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9" name="Right Bracket 8">
                <a:extLst>
                  <a:ext uri="{FF2B5EF4-FFF2-40B4-BE49-F238E27FC236}">
                    <a16:creationId xmlns:a16="http://schemas.microsoft.com/office/drawing/2014/main" id="{4D3FB38A-58BB-8911-7038-74EAF0B4ED7C}"/>
                  </a:ext>
                </a:extLst>
              </p:cNvPr>
              <p:cNvSpPr/>
              <p:nvPr/>
            </p:nvSpPr>
            <p:spPr>
              <a:xfrm>
                <a:off x="4787901" y="1367027"/>
                <a:ext cx="63500" cy="807847"/>
              </a:xfrm>
              <a:prstGeom prst="rightBracket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74AA9B7-2874-25ED-8DC9-CCCF320E5196}"/>
                    </a:ext>
                  </a:extLst>
                </p:cNvPr>
                <p:cNvSpPr txBox="1"/>
                <p:nvPr/>
              </p:nvSpPr>
              <p:spPr>
                <a:xfrm>
                  <a:off x="5197959" y="2053120"/>
                  <a:ext cx="28330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74AA9B7-2874-25ED-8DC9-CCCF320E5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7959" y="2053120"/>
                  <a:ext cx="283306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45EAD73-F479-F3E6-2751-92827BC6BCE1}"/>
              </a:ext>
            </a:extLst>
          </p:cNvPr>
          <p:cNvGrpSpPr/>
          <p:nvPr/>
        </p:nvGrpSpPr>
        <p:grpSpPr>
          <a:xfrm>
            <a:off x="4881336" y="2775032"/>
            <a:ext cx="606177" cy="1051934"/>
            <a:chOff x="4881336" y="2480392"/>
            <a:chExt cx="606177" cy="105193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1DF6C17-9750-F56C-2079-B75DBC8D6798}"/>
                </a:ext>
              </a:extLst>
            </p:cNvPr>
            <p:cNvGrpSpPr/>
            <p:nvPr/>
          </p:nvGrpSpPr>
          <p:grpSpPr>
            <a:xfrm>
              <a:off x="4881336" y="2480392"/>
              <a:ext cx="344536" cy="932439"/>
              <a:chOff x="4552902" y="1367027"/>
              <a:chExt cx="298499" cy="8078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68045109-CEC1-8609-85A8-54223F1293C2}"/>
                      </a:ext>
                    </a:extLst>
                  </p:cNvPr>
                  <p:cNvSpPr txBox="1"/>
                  <p:nvPr/>
                </p:nvSpPr>
                <p:spPr>
                  <a:xfrm>
                    <a:off x="4604664" y="1367028"/>
                    <a:ext cx="183237" cy="75856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2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oMath>
                      </m:oMathPara>
                    </a14:m>
                    <a:endParaRPr lang="en-US" sz="2200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68045109-CEC1-8609-85A8-54223F1293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04664" y="1367028"/>
                    <a:ext cx="183237" cy="75856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5294" r="-35294" b="-71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" name="Left Bracket 21">
                <a:extLst>
                  <a:ext uri="{FF2B5EF4-FFF2-40B4-BE49-F238E27FC236}">
                    <a16:creationId xmlns:a16="http://schemas.microsoft.com/office/drawing/2014/main" id="{9905CE50-F587-2719-0698-328F22099088}"/>
                  </a:ext>
                </a:extLst>
              </p:cNvPr>
              <p:cNvSpPr/>
              <p:nvPr/>
            </p:nvSpPr>
            <p:spPr>
              <a:xfrm>
                <a:off x="4552902" y="1367027"/>
                <a:ext cx="63500" cy="807847"/>
              </a:xfrm>
              <a:prstGeom prst="leftBracket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23" name="Right Bracket 22">
                <a:extLst>
                  <a:ext uri="{FF2B5EF4-FFF2-40B4-BE49-F238E27FC236}">
                    <a16:creationId xmlns:a16="http://schemas.microsoft.com/office/drawing/2014/main" id="{0D1C20B3-C225-CD88-6427-405B8FB05F94}"/>
                  </a:ext>
                </a:extLst>
              </p:cNvPr>
              <p:cNvSpPr/>
              <p:nvPr/>
            </p:nvSpPr>
            <p:spPr>
              <a:xfrm>
                <a:off x="4787901" y="1367027"/>
                <a:ext cx="63500" cy="807847"/>
              </a:xfrm>
              <a:prstGeom prst="rightBracket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6871B2B0-4EC8-B49C-73B5-CBBE3423B368}"/>
                    </a:ext>
                  </a:extLst>
                </p:cNvPr>
                <p:cNvSpPr txBox="1"/>
                <p:nvPr/>
              </p:nvSpPr>
              <p:spPr>
                <a:xfrm>
                  <a:off x="5204207" y="3224549"/>
                  <a:ext cx="28330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6871B2B0-4EC8-B49C-73B5-CBBE3423B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207" y="3224549"/>
                  <a:ext cx="283306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CA2185D-BE1C-FF0E-CE1C-4D2C71107D26}"/>
              </a:ext>
            </a:extLst>
          </p:cNvPr>
          <p:cNvGrpSpPr/>
          <p:nvPr/>
        </p:nvGrpSpPr>
        <p:grpSpPr>
          <a:xfrm>
            <a:off x="5550326" y="1738691"/>
            <a:ext cx="1474314" cy="458152"/>
            <a:chOff x="5550326" y="1576131"/>
            <a:chExt cx="1474314" cy="4581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89A4707-0F08-98B1-8434-2FDE9EDB99D8}"/>
                    </a:ext>
                  </a:extLst>
                </p:cNvPr>
                <p:cNvSpPr txBox="1"/>
                <p:nvPr/>
              </p:nvSpPr>
              <p:spPr>
                <a:xfrm>
                  <a:off x="5550326" y="1576131"/>
                  <a:ext cx="1474314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sz="2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pt-BR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e>
                                      <m:r>
                                        <a:rPr lang="pt-BR" sz="22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  <m:sup>
                            <m: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89A4707-0F08-98B1-8434-2FDE9EDB99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0326" y="1576131"/>
                  <a:ext cx="1474314" cy="338554"/>
                </a:xfrm>
                <a:prstGeom prst="rect">
                  <a:avLst/>
                </a:prstGeom>
                <a:blipFill>
                  <a:blip r:embed="rId7"/>
                  <a:stretch>
                    <a:fillRect r="-855" b="-2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D03AE59-BCF2-13F1-8980-94F245AF5AE1}"/>
                    </a:ext>
                  </a:extLst>
                </p:cNvPr>
                <p:cNvSpPr txBox="1"/>
                <p:nvPr/>
              </p:nvSpPr>
              <p:spPr>
                <a:xfrm>
                  <a:off x="6736242" y="1726506"/>
                  <a:ext cx="28330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D03AE59-BCF2-13F1-8980-94F245AF5A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6242" y="1726506"/>
                  <a:ext cx="283306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69DAFC7-0F97-CE87-1FAF-2955D8CF8A0B}"/>
              </a:ext>
            </a:extLst>
          </p:cNvPr>
          <p:cNvGrpSpPr/>
          <p:nvPr/>
        </p:nvGrpSpPr>
        <p:grpSpPr>
          <a:xfrm>
            <a:off x="5555258" y="3028949"/>
            <a:ext cx="1474313" cy="471403"/>
            <a:chOff x="5555258" y="2734309"/>
            <a:chExt cx="1474313" cy="4714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482234C-70E9-8575-0A63-85D05B512345}"/>
                    </a:ext>
                  </a:extLst>
                </p:cNvPr>
                <p:cNvSpPr txBox="1"/>
                <p:nvPr/>
              </p:nvSpPr>
              <p:spPr>
                <a:xfrm>
                  <a:off x="5555258" y="2734309"/>
                  <a:ext cx="1474313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sz="2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pt-BR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e>
                                      <m:r>
                                        <a:rPr lang="pt-BR" sz="22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  <m:sup>
                            <m: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482234C-70E9-8575-0A63-85D05B5123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5258" y="2734309"/>
                  <a:ext cx="1474313" cy="338554"/>
                </a:xfrm>
                <a:prstGeom prst="rect">
                  <a:avLst/>
                </a:prstGeom>
                <a:blipFill>
                  <a:blip r:embed="rId9"/>
                  <a:stretch>
                    <a:fillRect b="-259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C8F1395-B582-2826-E6F9-AD840302EE4A}"/>
                    </a:ext>
                  </a:extLst>
                </p:cNvPr>
                <p:cNvSpPr txBox="1"/>
                <p:nvPr/>
              </p:nvSpPr>
              <p:spPr>
                <a:xfrm>
                  <a:off x="6742490" y="2897935"/>
                  <a:ext cx="28330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C8F1395-B582-2826-E6F9-AD840302EE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2490" y="2897935"/>
                  <a:ext cx="283306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541C23F-3206-CD4D-F6E3-B76EAB365FDC}"/>
              </a:ext>
            </a:extLst>
          </p:cNvPr>
          <p:cNvSpPr txBox="1"/>
          <p:nvPr/>
        </p:nvSpPr>
        <p:spPr>
          <a:xfrm>
            <a:off x="1197422" y="4668809"/>
            <a:ext cx="72235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Pontos representam posição; vetores representam deslocamento/direção.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7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400"/>
              <a:buFont typeface="Verdana"/>
              <a:buNone/>
            </a:pPr>
            <a:r>
              <a:rPr lang="pt-BR" sz="2400"/>
              <a:t>Transformações Afim em Coordenadas Homogêneas</a:t>
            </a:r>
            <a:endParaRPr/>
          </a:p>
        </p:txBody>
      </p:sp>
      <p:sp>
        <p:nvSpPr>
          <p:cNvPr id="541" name="Google Shape;541;p64"/>
          <p:cNvSpPr txBox="1">
            <a:spLocks noGrp="1"/>
          </p:cNvSpPr>
          <p:nvPr>
            <p:ph type="body" idx="1"/>
          </p:nvPr>
        </p:nvSpPr>
        <p:spPr>
          <a:xfrm>
            <a:off x="390548" y="838986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</a:pPr>
            <a:r>
              <a:rPr lang="pt-BR" sz="2200"/>
              <a:t>transformação afim = transformação linear + translação</a:t>
            </a:r>
            <a:endParaRPr/>
          </a:p>
          <a:p>
            <a:pPr marL="0" lvl="0" indent="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</a:pPr>
            <a:endParaRPr sz="2200"/>
          </a:p>
        </p:txBody>
      </p:sp>
      <p:sp>
        <p:nvSpPr>
          <p:cNvPr id="542" name="Google Shape;542;p64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  <p:pic>
        <p:nvPicPr>
          <p:cNvPr id="543" name="Google Shape;543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44077" y="1557215"/>
            <a:ext cx="4718962" cy="986692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64"/>
          <p:cNvSpPr/>
          <p:nvPr/>
        </p:nvSpPr>
        <p:spPr>
          <a:xfrm>
            <a:off x="390548" y="2951939"/>
            <a:ext cx="513313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usando coordenadas homogêneas:</a:t>
            </a:r>
            <a:endParaRPr/>
          </a:p>
        </p:txBody>
      </p:sp>
      <p:pic>
        <p:nvPicPr>
          <p:cNvPr id="2" name="Google Shape;519;p61">
            <a:extLst>
              <a:ext uri="{FF2B5EF4-FFF2-40B4-BE49-F238E27FC236}">
                <a16:creationId xmlns:a16="http://schemas.microsoft.com/office/drawing/2014/main" id="{C9FC5E84-F883-98F9-C563-0101E6BE2B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9150" y="3669821"/>
            <a:ext cx="6268075" cy="132593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1074DA-6F56-58A5-F2D5-F6219101BB68}"/>
              </a:ext>
            </a:extLst>
          </p:cNvPr>
          <p:cNvSpPr txBox="1"/>
          <p:nvPr/>
        </p:nvSpPr>
        <p:spPr>
          <a:xfrm>
            <a:off x="1344563" y="5210674"/>
            <a:ext cx="50169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FF0000"/>
                </a:solidFill>
              </a:rPr>
              <a:t>Pergunta: faz sentido transladar um vetor?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FDFBE-8D19-D3F5-75B3-D84D658A981C}"/>
              </a:ext>
            </a:extLst>
          </p:cNvPr>
          <p:cNvSpPr txBox="1"/>
          <p:nvPr/>
        </p:nvSpPr>
        <p:spPr>
          <a:xfrm>
            <a:off x="6332598" y="5214902"/>
            <a:ext cx="8136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0000"/>
                </a:solidFill>
              </a:rPr>
              <a:t>NÃO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Composição de Transformações</a:t>
            </a:r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>
            <a:off x="222900" y="1095525"/>
            <a:ext cx="3744300" cy="22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lang="pt-BR" sz="2300" dirty="0"/>
              <a:t>É possível fazer a composição de transformações mais básicas para conseguir transformações mais complexas.</a:t>
            </a:r>
            <a:endParaRPr sz="2300" dirty="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endParaRPr sz="2300" dirty="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688"/>
              <a:buNone/>
            </a:pPr>
            <a:endParaRPr sz="2300" dirty="0"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7200" y="1095517"/>
            <a:ext cx="4872000" cy="4029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7800" y="1096225"/>
            <a:ext cx="4870800" cy="4028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7800" y="1096225"/>
            <a:ext cx="4870800" cy="4028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67800" y="1096225"/>
            <a:ext cx="4870800" cy="40284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7;p12">
            <a:extLst>
              <a:ext uri="{FF2B5EF4-FFF2-40B4-BE49-F238E27FC236}">
                <a16:creationId xmlns:a16="http://schemas.microsoft.com/office/drawing/2014/main" id="{F544B09A-4439-41D2-08F6-D43742436D36}"/>
              </a:ext>
            </a:extLst>
          </p:cNvPr>
          <p:cNvSpPr txBox="1">
            <a:spLocks/>
          </p:cNvSpPr>
          <p:nvPr/>
        </p:nvSpPr>
        <p:spPr>
          <a:xfrm>
            <a:off x="222900" y="3781533"/>
            <a:ext cx="3744300" cy="147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1000"/>
              <a:buFont typeface="Verdana"/>
              <a:buNone/>
            </a:pPr>
            <a:r>
              <a:rPr lang="pt-BR" sz="2300" dirty="0"/>
              <a:t>Por exemplo: Como levar a geometria de cima para a de baixo?</a:t>
            </a:r>
          </a:p>
          <a:p>
            <a:pPr marL="0" indent="0">
              <a:spcBef>
                <a:spcPts val="320"/>
              </a:spcBef>
              <a:buSzPts val="688"/>
            </a:pPr>
            <a:endParaRPr lang="pt-BR" sz="2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3"/>
          <p:cNvPicPr preferRelativeResize="0"/>
          <p:nvPr/>
        </p:nvPicPr>
        <p:blipFill rotWithShape="1">
          <a:blip r:embed="rId3">
            <a:alphaModFix/>
          </a:blip>
          <a:srcRect l="51865" t="49261"/>
          <a:stretch/>
        </p:blipFill>
        <p:spPr>
          <a:xfrm>
            <a:off x="4637986" y="3129698"/>
            <a:ext cx="3649077" cy="243316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Composição de Transformações</a:t>
            </a:r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body" idx="1"/>
          </p:nvPr>
        </p:nvSpPr>
        <p:spPr>
          <a:xfrm>
            <a:off x="84175" y="3379605"/>
            <a:ext cx="46737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rPr lang="pt-BR" sz="1800" dirty="0"/>
              <a:t>Observação: a ordem em que as transformações são aplicadas importa!</a:t>
            </a:r>
            <a:endParaRPr sz="2200" dirty="0"/>
          </a:p>
        </p:txBody>
      </p:sp>
      <p:sp>
        <p:nvSpPr>
          <p:cNvPr id="100" name="Google Shape;100;p1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pic>
        <p:nvPicPr>
          <p:cNvPr id="101" name="Google Shape;101;p13"/>
          <p:cNvPicPr preferRelativeResize="0"/>
          <p:nvPr/>
        </p:nvPicPr>
        <p:blipFill rotWithShape="1">
          <a:blip r:embed="rId3">
            <a:alphaModFix/>
          </a:blip>
          <a:srcRect b="52143"/>
          <a:stretch/>
        </p:blipFill>
        <p:spPr>
          <a:xfrm>
            <a:off x="706126" y="829296"/>
            <a:ext cx="7580955" cy="22949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>
            <a:spLocks noGrp="1"/>
          </p:cNvSpPr>
          <p:nvPr>
            <p:ph type="body" idx="1"/>
          </p:nvPr>
        </p:nvSpPr>
        <p:spPr>
          <a:xfrm>
            <a:off x="176500" y="4069002"/>
            <a:ext cx="46737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984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/>
              <a:t>superior-direito: escala e translada</a:t>
            </a:r>
            <a:endParaRPr sz="2200"/>
          </a:p>
        </p:txBody>
      </p:sp>
      <p:sp>
        <p:nvSpPr>
          <p:cNvPr id="103" name="Google Shape;103;p13"/>
          <p:cNvSpPr txBox="1">
            <a:spLocks noGrp="1"/>
          </p:cNvSpPr>
          <p:nvPr>
            <p:ph type="body" idx="1"/>
          </p:nvPr>
        </p:nvSpPr>
        <p:spPr>
          <a:xfrm>
            <a:off x="160375" y="4531814"/>
            <a:ext cx="46737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984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/>
              <a:t>inferior-direito: translada e escala</a:t>
            </a:r>
            <a:endParaRPr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Composição de Transformações</a:t>
            </a:r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sldNum" idx="12"/>
          </p:nvPr>
        </p:nvSpPr>
        <p:spPr>
          <a:xfrm>
            <a:off x="0" y="5410754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body" idx="1"/>
          </p:nvPr>
        </p:nvSpPr>
        <p:spPr>
          <a:xfrm>
            <a:off x="250650" y="818100"/>
            <a:ext cx="88074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lang="pt-BR" sz="2300"/>
              <a:t>As matrizes podem nos ajudar a compor transformações?</a:t>
            </a:r>
            <a:endParaRPr sz="230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endParaRPr sz="230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688"/>
              <a:buNone/>
            </a:pPr>
            <a:endParaRPr sz="2300"/>
          </a:p>
        </p:txBody>
      </p:sp>
      <p:pic>
        <p:nvPicPr>
          <p:cNvPr id="111" name="Google Shape;11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325" y="1522475"/>
            <a:ext cx="4227676" cy="16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6350" y="1522475"/>
            <a:ext cx="4226399" cy="16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07413" y="3405800"/>
            <a:ext cx="6025199" cy="107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21713" y="4666075"/>
            <a:ext cx="5045475" cy="89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Composição de Transformações</a:t>
            </a:r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sldNum" idx="12"/>
          </p:nvPr>
        </p:nvSpPr>
        <p:spPr>
          <a:xfrm>
            <a:off x="0" y="5410754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572" y="800325"/>
            <a:ext cx="4531775" cy="80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4697" y="856962"/>
            <a:ext cx="3895550" cy="69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022" y="1777763"/>
            <a:ext cx="3044691" cy="367933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>
            <a:spLocks noGrp="1"/>
          </p:cNvSpPr>
          <p:nvPr>
            <p:ph type="body" idx="1"/>
          </p:nvPr>
        </p:nvSpPr>
        <p:spPr>
          <a:xfrm>
            <a:off x="4054000" y="1804575"/>
            <a:ext cx="50349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lang="pt-BR" sz="2300" dirty="0"/>
              <a:t>Primeiro reflete em x e, depois, rotaciona pi/2.</a:t>
            </a:r>
            <a:endParaRPr sz="2300" dirty="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endParaRPr sz="2300" dirty="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688"/>
              <a:buNone/>
            </a:pPr>
            <a:endParaRPr sz="2300" dirty="0"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1"/>
          </p:nvPr>
        </p:nvSpPr>
        <p:spPr>
          <a:xfrm>
            <a:off x="4109100" y="2578625"/>
            <a:ext cx="5034900" cy="12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lang="pt-BR" sz="2300" dirty="0"/>
              <a:t>A composição obtida aplicando a transformação A seguida da B é indicada por:</a:t>
            </a:r>
            <a:endParaRPr sz="2300" dirty="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endParaRPr sz="2300" dirty="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688"/>
              <a:buNone/>
            </a:pPr>
            <a:endParaRPr sz="2300" dirty="0"/>
          </a:p>
        </p:txBody>
      </p:sp>
      <p:pic>
        <p:nvPicPr>
          <p:cNvPr id="126" name="Google Shape;12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4128" y="3270631"/>
            <a:ext cx="2306974" cy="6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>
            <a:spLocks noGrp="1"/>
          </p:cNvSpPr>
          <p:nvPr>
            <p:ph type="body" idx="1"/>
          </p:nvPr>
        </p:nvSpPr>
        <p:spPr>
          <a:xfrm>
            <a:off x="4109100" y="3807425"/>
            <a:ext cx="50349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lang="pt-BR" sz="2300" dirty="0"/>
              <a:t>A matriz dessa composição é:</a:t>
            </a:r>
            <a:endParaRPr sz="2300" dirty="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endParaRPr sz="2300" dirty="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688"/>
              <a:buNone/>
            </a:pPr>
            <a:endParaRPr sz="2300" dirty="0"/>
          </a:p>
        </p:txBody>
      </p:sp>
      <p:pic>
        <p:nvPicPr>
          <p:cNvPr id="128" name="Google Shape;128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51575" y="4181771"/>
            <a:ext cx="2306974" cy="6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9E62EB-58F0-E47F-9A91-5E5A7362C0D9}"/>
              </a:ext>
            </a:extLst>
          </p:cNvPr>
          <p:cNvSpPr txBox="1"/>
          <p:nvPr/>
        </p:nvSpPr>
        <p:spPr>
          <a:xfrm>
            <a:off x="4054000" y="4722224"/>
            <a:ext cx="50349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pt-BR" sz="2300" dirty="0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A ordem efetiva da multiplicação é da direita para a esquerda.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Composição de Transformações</a:t>
            </a:r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sldNum" idx="12"/>
          </p:nvPr>
        </p:nvSpPr>
        <p:spPr>
          <a:xfrm>
            <a:off x="0" y="5410754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  <p:sp>
        <p:nvSpPr>
          <p:cNvPr id="135" name="Google Shape;135;p16"/>
          <p:cNvSpPr txBox="1">
            <a:spLocks noGrp="1"/>
          </p:cNvSpPr>
          <p:nvPr>
            <p:ph type="body" idx="1"/>
          </p:nvPr>
        </p:nvSpPr>
        <p:spPr>
          <a:xfrm>
            <a:off x="165175" y="854075"/>
            <a:ext cx="86355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lang="pt-BR" sz="2300"/>
              <a:t>Observe o que acontece invertendo a ordem:</a:t>
            </a:r>
            <a:endParaRPr sz="230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endParaRPr sz="230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688"/>
              <a:buNone/>
            </a:pPr>
            <a:endParaRPr sz="2300"/>
          </a:p>
        </p:txBody>
      </p:sp>
      <p:pic>
        <p:nvPicPr>
          <p:cNvPr id="136" name="Google Shape;13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50" y="1508100"/>
            <a:ext cx="4898124" cy="70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/>
          <p:cNvPicPr preferRelativeResize="0"/>
          <p:nvPr/>
        </p:nvPicPr>
        <p:blipFill rotWithShape="1">
          <a:blip r:embed="rId4">
            <a:alphaModFix/>
          </a:blip>
          <a:srcRect l="23212" r="20142"/>
          <a:stretch/>
        </p:blipFill>
        <p:spPr>
          <a:xfrm>
            <a:off x="800350" y="2378950"/>
            <a:ext cx="2774379" cy="70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6775" y="1582900"/>
            <a:ext cx="3894825" cy="336770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>
            <a:spLocks noGrp="1"/>
          </p:cNvSpPr>
          <p:nvPr>
            <p:ph type="body" idx="1"/>
          </p:nvPr>
        </p:nvSpPr>
        <p:spPr>
          <a:xfrm>
            <a:off x="255250" y="3546275"/>
            <a:ext cx="44745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lang="pt-BR" sz="2300"/>
              <a:t>Primeiro rotaciona pi/2 e, depois, reflete em x.</a:t>
            </a:r>
            <a:endParaRPr sz="230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endParaRPr sz="230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688"/>
              <a:buNone/>
            </a:pPr>
            <a:endParaRPr sz="23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 dirty="0"/>
              <a:t>Composição de Transformações (2D-H)</a:t>
            </a:r>
            <a:endParaRPr dirty="0"/>
          </a:p>
        </p:txBody>
      </p:sp>
      <p:sp>
        <p:nvSpPr>
          <p:cNvPr id="145" name="Google Shape;145;p17"/>
          <p:cNvSpPr txBox="1">
            <a:spLocks noGrp="1"/>
          </p:cNvSpPr>
          <p:nvPr>
            <p:ph type="sldNum" idx="12"/>
          </p:nvPr>
        </p:nvSpPr>
        <p:spPr>
          <a:xfrm>
            <a:off x="0" y="5410754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  <p:sp>
        <p:nvSpPr>
          <p:cNvPr id="146" name="Google Shape;146;p17"/>
          <p:cNvSpPr txBox="1">
            <a:spLocks noGrp="1"/>
          </p:cNvSpPr>
          <p:nvPr>
            <p:ph type="body" idx="1"/>
          </p:nvPr>
        </p:nvSpPr>
        <p:spPr>
          <a:xfrm>
            <a:off x="165175" y="854075"/>
            <a:ext cx="86355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lang="pt-BR" sz="2300" dirty="0"/>
              <a:t>E como fica nas coordenadas homogêneas?</a:t>
            </a:r>
            <a:endParaRPr sz="2300" dirty="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endParaRPr sz="2300" dirty="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688"/>
              <a:buNone/>
            </a:pPr>
            <a:endParaRPr sz="2300" dirty="0"/>
          </a:p>
        </p:txBody>
      </p:sp>
      <p:sp>
        <p:nvSpPr>
          <p:cNvPr id="147" name="Google Shape;147;p17"/>
          <p:cNvSpPr txBox="1">
            <a:spLocks noGrp="1"/>
          </p:cNvSpPr>
          <p:nvPr>
            <p:ph type="body" idx="1"/>
          </p:nvPr>
        </p:nvSpPr>
        <p:spPr>
          <a:xfrm>
            <a:off x="178050" y="1594425"/>
            <a:ext cx="86355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lang="pt-BR" sz="2300" b="1" dirty="0">
                <a:solidFill>
                  <a:srgbClr val="FF9900"/>
                </a:solidFill>
              </a:rPr>
              <a:t>Exemplo:</a:t>
            </a:r>
            <a:r>
              <a:rPr lang="pt-BR" sz="2300" dirty="0"/>
              <a:t> escala S</a:t>
            </a:r>
            <a:r>
              <a:rPr lang="pt-BR" sz="2300" baseline="-25000" dirty="0"/>
              <a:t>0,5</a:t>
            </a:r>
            <a:r>
              <a:rPr lang="pt-BR" sz="2300" dirty="0"/>
              <a:t> seguida de translação T</a:t>
            </a:r>
            <a:r>
              <a:rPr lang="pt-BR" sz="2300" baseline="-25000" dirty="0"/>
              <a:t>3,1</a:t>
            </a:r>
            <a:r>
              <a:rPr lang="pt-BR" sz="2300" dirty="0"/>
              <a:t>.</a:t>
            </a:r>
            <a:endParaRPr sz="2300" dirty="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endParaRPr sz="2300" dirty="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688"/>
              <a:buNone/>
            </a:pPr>
            <a:endParaRPr sz="2300" dirty="0"/>
          </a:p>
        </p:txBody>
      </p:sp>
      <p:pic>
        <p:nvPicPr>
          <p:cNvPr id="148" name="Google Shape;14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34775"/>
            <a:ext cx="8839201" cy="1578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2500" y="4026825"/>
            <a:ext cx="4472226" cy="138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/>
          <p:nvPr/>
        </p:nvSpPr>
        <p:spPr>
          <a:xfrm>
            <a:off x="3487919" y="2268187"/>
            <a:ext cx="5442300" cy="2434500"/>
          </a:xfrm>
          <a:prstGeom prst="rect">
            <a:avLst/>
          </a:prstGeom>
          <a:noFill/>
          <a:ln w="19050" cap="flat" cmpd="sng">
            <a:solidFill>
              <a:srgbClr val="C000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500"/>
              <a:buFont typeface="Verdana"/>
              <a:buNone/>
            </a:pPr>
            <a:r>
              <a:rPr lang="pt-BR" sz="2500"/>
              <a:t>Sumário de Transformações Geométricas Básicas</a:t>
            </a:r>
            <a:endParaRPr/>
          </a:p>
        </p:txBody>
      </p:sp>
      <p:sp>
        <p:nvSpPr>
          <p:cNvPr id="163" name="Google Shape;163;p19"/>
          <p:cNvSpPr txBox="1">
            <a:spLocks noGrp="1"/>
          </p:cNvSpPr>
          <p:nvPr>
            <p:ph type="body" idx="1"/>
          </p:nvPr>
        </p:nvSpPr>
        <p:spPr>
          <a:xfrm>
            <a:off x="390549" y="838985"/>
            <a:ext cx="3097500" cy="4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Lineares:</a:t>
            </a:r>
            <a:endParaRPr dirty="0"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818000" lvl="1" indent="-19890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/>
              <a:t>Escala</a:t>
            </a:r>
            <a:endParaRPr dirty="0"/>
          </a:p>
          <a:p>
            <a:pPr marL="818000" lvl="1" indent="-19890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/>
              <a:t>Rotação</a:t>
            </a:r>
            <a:endParaRPr dirty="0"/>
          </a:p>
          <a:p>
            <a:pPr marL="818000" lvl="1" indent="-19890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/>
              <a:t>Reflexão</a:t>
            </a:r>
            <a:endParaRPr dirty="0"/>
          </a:p>
          <a:p>
            <a:pPr marL="818000" lvl="1" indent="-19890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/>
              <a:t>Cisalhamento</a:t>
            </a:r>
            <a:endParaRPr dirty="0"/>
          </a:p>
        </p:txBody>
      </p:sp>
      <p:sp>
        <p:nvSpPr>
          <p:cNvPr id="164" name="Google Shape;164;p1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  <p:pic>
        <p:nvPicPr>
          <p:cNvPr id="165" name="Google Shape;16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3373" y="1265024"/>
            <a:ext cx="2345179" cy="66343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676454" y="838984"/>
            <a:ext cx="5345100" cy="4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2400" b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Transformações Afim:</a:t>
            </a:r>
            <a:endParaRPr/>
          </a:p>
          <a:p>
            <a:pPr marL="0" marR="0" lvl="0" indent="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lang="pt-BR" sz="1400" b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Composição de uma transformação linear + translação</a:t>
            </a:r>
            <a:endParaRPr/>
          </a:p>
          <a:p>
            <a:pPr marL="619099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619099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2400" b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Isometria</a:t>
            </a:r>
            <a:endParaRPr/>
          </a:p>
          <a:p>
            <a:pPr marL="0" marR="0" lvl="0" indent="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lang="pt-BR" sz="1400" b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Preserva a distância entre os pontos (comprimento)</a:t>
            </a:r>
            <a:endParaRPr/>
          </a:p>
          <a:p>
            <a:pPr marL="0" marR="0" lvl="0" indent="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endParaRPr sz="2200" b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818000" marR="0" lvl="1" indent="-18620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Translação</a:t>
            </a:r>
            <a:endParaRPr sz="1200"/>
          </a:p>
          <a:p>
            <a:pPr marL="818000" marR="0" lvl="1" indent="-18620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Rotação</a:t>
            </a:r>
            <a:endParaRPr sz="1200"/>
          </a:p>
          <a:p>
            <a:pPr marL="818000" marR="0" lvl="1" indent="-18620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Reflexão</a:t>
            </a:r>
            <a:endParaRPr sz="1200"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7" name="Google Shape;167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98288" y="1546950"/>
            <a:ext cx="1668879" cy="38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75411" y="3087063"/>
            <a:ext cx="2280422" cy="316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500"/>
              <a:buFont typeface="Verdana"/>
              <a:buNone/>
            </a:pPr>
            <a:r>
              <a:rPr lang="pt-BR" sz="2500"/>
              <a:t>Teorema - Transformações Geométricas Básicas</a:t>
            </a:r>
            <a:endParaRPr/>
          </a:p>
        </p:txBody>
      </p:sp>
      <p:sp>
        <p:nvSpPr>
          <p:cNvPr id="174" name="Google Shape;174;p2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12</a:t>
            </a:fld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250225" y="1122676"/>
            <a:ext cx="8428200" cy="3272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 algn="just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pt-BR" sz="2700" b="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Toda isometria do plano, distinta da transformaç</a:t>
            </a:r>
            <a:r>
              <a:rPr lang="pt-BR" sz="27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ão</a:t>
            </a:r>
            <a:r>
              <a:rPr lang="pt-BR" sz="2700" b="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27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identidade, é uma, e apenas uma, das seguintes transformações: translação, rotação, reflexão em relação a uma </a:t>
            </a:r>
            <a:r>
              <a:rPr lang="pt-BR" sz="2700" noProof="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reta ou reflexão </a:t>
            </a:r>
            <a:r>
              <a:rPr lang="pt-BR" sz="2800" noProof="0" dirty="0"/>
              <a:t>deslizante </a:t>
            </a:r>
            <a:r>
              <a:rPr lang="en-US" sz="2800" dirty="0"/>
              <a:t>(glide reflection)</a:t>
            </a:r>
            <a:r>
              <a:rPr lang="pt-BR" sz="27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1700" dirty="0"/>
          </a:p>
          <a:p>
            <a:pPr marL="0" marR="0" lvl="0" indent="0" algn="just" rtl="0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lang="pt-BR" sz="1700" b="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endParaRPr sz="2700" b="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pt-BR" sz="1800" dirty="0"/>
              <a:t>Usando coordenadas homogêneas em 3D</a:t>
            </a:r>
            <a:endParaRPr dirty="0"/>
          </a:p>
        </p:txBody>
      </p:sp>
      <p:sp>
        <p:nvSpPr>
          <p:cNvPr id="190" name="Google Shape;190;p2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 dirty="0"/>
              <a:t>Indo para o espaço 3D (3D-H)</a:t>
            </a:r>
            <a:endParaRPr dirty="0"/>
          </a:p>
        </p:txBody>
      </p:sp>
      <p:sp>
        <p:nvSpPr>
          <p:cNvPr id="191" name="Google Shape;191;p2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00CF2D-431A-0DCE-63A1-A88939BA5989}"/>
              </a:ext>
            </a:extLst>
          </p:cNvPr>
          <p:cNvSpPr txBox="1"/>
          <p:nvPr/>
        </p:nvSpPr>
        <p:spPr>
          <a:xfrm>
            <a:off x="475013" y="1679520"/>
            <a:ext cx="46246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/>
            <a:r>
              <a:rPr lang="en-US" sz="2400" dirty="0"/>
              <a:t>Ponto 3D :</a:t>
            </a:r>
            <a:r>
              <a:rPr lang="en-US" sz="2400" noProof="1"/>
              <a:t> (x, y,z) → (x, y, z, </a:t>
            </a:r>
            <a:r>
              <a:rPr lang="en-US" sz="2400" b="1" noProof="1"/>
              <a:t>1</a:t>
            </a:r>
            <a:r>
              <a:rPr lang="en-US" sz="2400" noProof="1"/>
              <a:t>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37B35F-8B09-4949-EF81-5DAD4C7166FE}"/>
              </a:ext>
            </a:extLst>
          </p:cNvPr>
          <p:cNvGrpSpPr/>
          <p:nvPr/>
        </p:nvGrpSpPr>
        <p:grpSpPr>
          <a:xfrm>
            <a:off x="7896729" y="1043888"/>
            <a:ext cx="1350071" cy="471283"/>
            <a:chOff x="7479841" y="1085184"/>
            <a:chExt cx="1350071" cy="47128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5DCF3E5-B138-6418-8353-F105E10CFA5C}"/>
                </a:ext>
              </a:extLst>
            </p:cNvPr>
            <p:cNvSpPr txBox="1"/>
            <p:nvPr/>
          </p:nvSpPr>
          <p:spPr>
            <a:xfrm>
              <a:off x="7632834" y="1085184"/>
              <a:ext cx="119707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Transposta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87044CD4-C0F3-CBE2-04C0-3F54C1C89C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79841" y="1302550"/>
              <a:ext cx="213953" cy="253917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11D5916-EB9A-2A8C-7A47-4F5B177E2F54}"/>
              </a:ext>
            </a:extLst>
          </p:cNvPr>
          <p:cNvSpPr txBox="1"/>
          <p:nvPr/>
        </p:nvSpPr>
        <p:spPr>
          <a:xfrm>
            <a:off x="475013" y="3501715"/>
            <a:ext cx="46446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/>
            <a:r>
              <a:rPr lang="en-US" sz="2400" dirty="0"/>
              <a:t>Vetor 3D</a:t>
            </a:r>
            <a:r>
              <a:rPr lang="en-US" sz="1800" dirty="0"/>
              <a:t>  </a:t>
            </a:r>
            <a:r>
              <a:rPr lang="en-US" sz="2400" noProof="1"/>
              <a:t>: (x, y, z) → (x, y, z, </a:t>
            </a:r>
            <a:r>
              <a:rPr lang="en-US" sz="2400" b="1" noProof="1"/>
              <a:t>0</a:t>
            </a:r>
            <a:r>
              <a:rPr lang="en-US" sz="2400" noProof="1"/>
              <a:t>)</a:t>
            </a:r>
            <a:endParaRPr lang="en-US" sz="24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6C5384E-1C2E-4CD2-A4EA-B7B45EAA2EFD}"/>
              </a:ext>
            </a:extLst>
          </p:cNvPr>
          <p:cNvGrpSpPr/>
          <p:nvPr/>
        </p:nvGrpSpPr>
        <p:grpSpPr>
          <a:xfrm>
            <a:off x="5989265" y="2001257"/>
            <a:ext cx="2935252" cy="573257"/>
            <a:chOff x="5526060" y="1989410"/>
            <a:chExt cx="2935252" cy="57325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BAE05D5-3084-C25A-B3D1-0198E7DA8745}"/>
                </a:ext>
              </a:extLst>
            </p:cNvPr>
            <p:cNvGrpSpPr/>
            <p:nvPr/>
          </p:nvGrpSpPr>
          <p:grpSpPr>
            <a:xfrm>
              <a:off x="5526060" y="2285668"/>
              <a:ext cx="2935252" cy="276999"/>
              <a:chOff x="6415881" y="1238225"/>
              <a:chExt cx="2935252" cy="276999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E1F95BC-E3D1-54B6-E305-82B9F896AB22}"/>
                  </a:ext>
                </a:extLst>
              </p:cNvPr>
              <p:cNvSpPr txBox="1"/>
              <p:nvPr/>
            </p:nvSpPr>
            <p:spPr>
              <a:xfrm>
                <a:off x="7674125" y="1238225"/>
                <a:ext cx="167700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Coord. Homogêneas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2E4ACFEC-2125-65E2-8444-C44EF8A78DAC}"/>
                  </a:ext>
                </a:extLst>
              </p:cNvPr>
              <p:cNvCxnSpPr>
                <a:cxnSpLocks/>
                <a:stCxn id="10" idx="1"/>
                <a:endCxn id="14" idx="3"/>
              </p:cNvCxnSpPr>
              <p:nvPr/>
            </p:nvCxnSpPr>
            <p:spPr>
              <a:xfrm flipH="1">
                <a:off x="6415881" y="1376725"/>
                <a:ext cx="1258244" cy="85954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E70F365-8571-43A2-AB3B-CAC8AC3FEC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43878" y="1989410"/>
              <a:ext cx="253469" cy="296258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ED07445-B183-EBFA-152B-8A4EC026C9CA}"/>
              </a:ext>
            </a:extLst>
          </p:cNvPr>
          <p:cNvGrpSpPr/>
          <p:nvPr/>
        </p:nvGrpSpPr>
        <p:grpSpPr>
          <a:xfrm>
            <a:off x="5384396" y="1322214"/>
            <a:ext cx="604869" cy="1353643"/>
            <a:chOff x="4876396" y="1322214"/>
            <a:chExt cx="604869" cy="135364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D2F80F4-3F6B-25EF-DCED-87505A11250C}"/>
                </a:ext>
              </a:extLst>
            </p:cNvPr>
            <p:cNvGrpSpPr/>
            <p:nvPr/>
          </p:nvGrpSpPr>
          <p:grpSpPr>
            <a:xfrm>
              <a:off x="4876396" y="1322214"/>
              <a:ext cx="316961" cy="1206293"/>
              <a:chOff x="4552902" y="1367027"/>
              <a:chExt cx="274609" cy="104510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2A25E69-5D9A-0B1F-0C0E-795149141ECC}"/>
                      </a:ext>
                    </a:extLst>
                  </p:cNvPr>
                  <p:cNvSpPr txBox="1"/>
                  <p:nvPr/>
                </p:nvSpPr>
                <p:spPr>
                  <a:xfrm>
                    <a:off x="4604664" y="1367028"/>
                    <a:ext cx="183237" cy="104510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2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oMath>
                      </m:oMathPara>
                    </a14:m>
                    <a:endParaRPr lang="en-US" sz="2200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2A25E69-5D9A-0B1F-0C0E-795149141E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04664" y="1367028"/>
                    <a:ext cx="183237" cy="104510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3333" t="-1042" r="-27778"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Left Bracket 15">
                <a:extLst>
                  <a:ext uri="{FF2B5EF4-FFF2-40B4-BE49-F238E27FC236}">
                    <a16:creationId xmlns:a16="http://schemas.microsoft.com/office/drawing/2014/main" id="{F96DF0FD-FCF3-8067-4777-DF2BFA77CA16}"/>
                  </a:ext>
                </a:extLst>
              </p:cNvPr>
              <p:cNvSpPr/>
              <p:nvPr/>
            </p:nvSpPr>
            <p:spPr>
              <a:xfrm>
                <a:off x="4552902" y="1367027"/>
                <a:ext cx="39610" cy="1045108"/>
              </a:xfrm>
              <a:prstGeom prst="leftBracket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17" name="Right Bracket 16">
                <a:extLst>
                  <a:ext uri="{FF2B5EF4-FFF2-40B4-BE49-F238E27FC236}">
                    <a16:creationId xmlns:a16="http://schemas.microsoft.com/office/drawing/2014/main" id="{1556BA34-8C93-05F0-C27E-36130B44274A}"/>
                  </a:ext>
                </a:extLst>
              </p:cNvPr>
              <p:cNvSpPr/>
              <p:nvPr/>
            </p:nvSpPr>
            <p:spPr>
              <a:xfrm>
                <a:off x="4787901" y="1367027"/>
                <a:ext cx="39610" cy="1045108"/>
              </a:xfrm>
              <a:prstGeom prst="rightBracket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2F81539-F454-64F1-6850-BFC98520E9DC}"/>
                    </a:ext>
                  </a:extLst>
                </p:cNvPr>
                <p:cNvSpPr txBox="1"/>
                <p:nvPr/>
              </p:nvSpPr>
              <p:spPr>
                <a:xfrm>
                  <a:off x="5197959" y="2368080"/>
                  <a:ext cx="28330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2F81539-F454-64F1-6850-BFC98520E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7959" y="2368080"/>
                  <a:ext cx="283306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AD75F6C-04CA-B69D-FCC6-3DCB09EC577A}"/>
              </a:ext>
            </a:extLst>
          </p:cNvPr>
          <p:cNvGrpSpPr/>
          <p:nvPr/>
        </p:nvGrpSpPr>
        <p:grpSpPr>
          <a:xfrm>
            <a:off x="5384404" y="3161113"/>
            <a:ext cx="611109" cy="1366893"/>
            <a:chOff x="4876404" y="2480393"/>
            <a:chExt cx="611109" cy="136689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F10F195-802B-C0A7-EF82-B8B224A9F253}"/>
                </a:ext>
              </a:extLst>
            </p:cNvPr>
            <p:cNvGrpSpPr/>
            <p:nvPr/>
          </p:nvGrpSpPr>
          <p:grpSpPr>
            <a:xfrm>
              <a:off x="4876404" y="2480393"/>
              <a:ext cx="349468" cy="1208474"/>
              <a:chOff x="4548629" y="1367027"/>
              <a:chExt cx="302772" cy="10469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25FE02E1-1D48-98E9-4A3F-E14FCE1352A2}"/>
                      </a:ext>
                    </a:extLst>
                  </p:cNvPr>
                  <p:cNvSpPr txBox="1"/>
                  <p:nvPr/>
                </p:nvSpPr>
                <p:spPr>
                  <a:xfrm>
                    <a:off x="4604664" y="1367028"/>
                    <a:ext cx="183237" cy="10469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2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oMath>
                      </m:oMathPara>
                    </a14:m>
                    <a:endParaRPr lang="en-US" sz="2200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25FE02E1-1D48-98E9-4A3F-E14FCE1352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04664" y="1367028"/>
                    <a:ext cx="183237" cy="104699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1176" r="-35294" b="-41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" name="Left Bracket 21">
                <a:extLst>
                  <a:ext uri="{FF2B5EF4-FFF2-40B4-BE49-F238E27FC236}">
                    <a16:creationId xmlns:a16="http://schemas.microsoft.com/office/drawing/2014/main" id="{9525F8C8-5BDE-AA0C-E14F-9DD83F5D5507}"/>
                  </a:ext>
                </a:extLst>
              </p:cNvPr>
              <p:cNvSpPr/>
              <p:nvPr/>
            </p:nvSpPr>
            <p:spPr>
              <a:xfrm>
                <a:off x="4548629" y="1367027"/>
                <a:ext cx="67773" cy="1045108"/>
              </a:xfrm>
              <a:prstGeom prst="leftBracket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23" name="Right Bracket 22">
                <a:extLst>
                  <a:ext uri="{FF2B5EF4-FFF2-40B4-BE49-F238E27FC236}">
                    <a16:creationId xmlns:a16="http://schemas.microsoft.com/office/drawing/2014/main" id="{CACDB47D-A31D-0466-E8D1-BEDAC9C25A86}"/>
                  </a:ext>
                </a:extLst>
              </p:cNvPr>
              <p:cNvSpPr/>
              <p:nvPr/>
            </p:nvSpPr>
            <p:spPr>
              <a:xfrm>
                <a:off x="4783628" y="1367027"/>
                <a:ext cx="67773" cy="1045108"/>
              </a:xfrm>
              <a:prstGeom prst="rightBracket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37A2F9F-E892-A5F1-9BD8-A48F87261285}"/>
                    </a:ext>
                  </a:extLst>
                </p:cNvPr>
                <p:cNvSpPr txBox="1"/>
                <p:nvPr/>
              </p:nvSpPr>
              <p:spPr>
                <a:xfrm>
                  <a:off x="5204207" y="3539509"/>
                  <a:ext cx="28330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37A2F9F-E892-A5F1-9BD8-A48F872612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207" y="3539509"/>
                  <a:ext cx="283306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64DCCA6-AB9A-2B2C-EEC5-6DC2CF9C9C49}"/>
              </a:ext>
            </a:extLst>
          </p:cNvPr>
          <p:cNvGrpSpPr/>
          <p:nvPr/>
        </p:nvGrpSpPr>
        <p:grpSpPr>
          <a:xfrm>
            <a:off x="6058326" y="1576131"/>
            <a:ext cx="1897506" cy="458152"/>
            <a:chOff x="5550326" y="1576131"/>
            <a:chExt cx="1897506" cy="4581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8AB3867-9731-1BF0-57E4-7C32E5D98E97}"/>
                    </a:ext>
                  </a:extLst>
                </p:cNvPr>
                <p:cNvSpPr txBox="1"/>
                <p:nvPr/>
              </p:nvSpPr>
              <p:spPr>
                <a:xfrm>
                  <a:off x="5550326" y="1576131"/>
                  <a:ext cx="1897506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4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sz="2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e>
                                      <m: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pt-BR" sz="22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  <m:sup>
                            <m: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8AB3867-9731-1BF0-57E4-7C32E5D98E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0326" y="1576131"/>
                  <a:ext cx="1897506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2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F751690-75F0-2900-57FB-91CF4A6F3FC9}"/>
                    </a:ext>
                  </a:extLst>
                </p:cNvPr>
                <p:cNvSpPr txBox="1"/>
                <p:nvPr/>
              </p:nvSpPr>
              <p:spPr>
                <a:xfrm>
                  <a:off x="7162962" y="1726506"/>
                  <a:ext cx="28330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F751690-75F0-2900-57FB-91CF4A6F3F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2962" y="1726506"/>
                  <a:ext cx="283306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5A1380A-B145-81A2-3F8E-018281C59C17}"/>
              </a:ext>
            </a:extLst>
          </p:cNvPr>
          <p:cNvGrpSpPr/>
          <p:nvPr/>
        </p:nvGrpSpPr>
        <p:grpSpPr>
          <a:xfrm>
            <a:off x="6063258" y="3415029"/>
            <a:ext cx="1897506" cy="471403"/>
            <a:chOff x="5555258" y="2734309"/>
            <a:chExt cx="1897506" cy="4714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95A68A8-FA76-5C1D-CEAB-FFE535D8DD66}"/>
                    </a:ext>
                  </a:extLst>
                </p:cNvPr>
                <p:cNvSpPr txBox="1"/>
                <p:nvPr/>
              </p:nvSpPr>
              <p:spPr>
                <a:xfrm>
                  <a:off x="5555258" y="2734309"/>
                  <a:ext cx="1897506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4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sz="2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pt-BR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e>
                                      <m: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e>
                                      <m:r>
                                        <a:rPr lang="pt-BR" sz="22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  <m:sup>
                            <m: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95A68A8-FA76-5C1D-CEAB-FFE535D8DD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5258" y="2734309"/>
                  <a:ext cx="1897506" cy="338554"/>
                </a:xfrm>
                <a:prstGeom prst="rect">
                  <a:avLst/>
                </a:prstGeom>
                <a:blipFill>
                  <a:blip r:embed="rId9"/>
                  <a:stretch>
                    <a:fillRect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EB2C7B2-A41F-52D0-ACC3-6E4636B74E4D}"/>
                    </a:ext>
                  </a:extLst>
                </p:cNvPr>
                <p:cNvSpPr txBox="1"/>
                <p:nvPr/>
              </p:nvSpPr>
              <p:spPr>
                <a:xfrm>
                  <a:off x="7169210" y="2897935"/>
                  <a:ext cx="28330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EB2C7B2-A41F-52D0-ACC3-6E4636B74E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9210" y="2897935"/>
                  <a:ext cx="283306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2A1506CF-99C8-F782-565B-3E607C844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>
            <a:extLst>
              <a:ext uri="{FF2B5EF4-FFF2-40B4-BE49-F238E27FC236}">
                <a16:creationId xmlns:a16="http://schemas.microsoft.com/office/drawing/2014/main" id="{4BE5ACF8-CA4C-D205-6477-1A0AB004A7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pt-BR" dirty="0"/>
              <a:t>Matrizes 4x4 para transformações afim:</a:t>
            </a:r>
          </a:p>
        </p:txBody>
      </p:sp>
      <p:sp>
        <p:nvSpPr>
          <p:cNvPr id="190" name="Google Shape;190;p22">
            <a:extLst>
              <a:ext uri="{FF2B5EF4-FFF2-40B4-BE49-F238E27FC236}">
                <a16:creationId xmlns:a16="http://schemas.microsoft.com/office/drawing/2014/main" id="{EB664156-69B5-5019-A649-C84C2EAA57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 dirty="0"/>
              <a:t>Transformações 3D em Coord. Homogêneas</a:t>
            </a:r>
            <a:endParaRPr dirty="0"/>
          </a:p>
        </p:txBody>
      </p:sp>
      <p:sp>
        <p:nvSpPr>
          <p:cNvPr id="191" name="Google Shape;191;p22">
            <a:extLst>
              <a:ext uri="{FF2B5EF4-FFF2-40B4-BE49-F238E27FC236}">
                <a16:creationId xmlns:a16="http://schemas.microsoft.com/office/drawing/2014/main" id="{AABF2265-FDEB-EB03-E75E-5F7C1DD80D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14</a:t>
            </a:fld>
            <a:endParaRPr/>
          </a:p>
        </p:txBody>
      </p:sp>
      <p:pic>
        <p:nvPicPr>
          <p:cNvPr id="194" name="Google Shape;194;p22">
            <a:extLst>
              <a:ext uri="{FF2B5EF4-FFF2-40B4-BE49-F238E27FC236}">
                <a16:creationId xmlns:a16="http://schemas.microsoft.com/office/drawing/2014/main" id="{23BC0420-D0AB-D960-BC69-31004B5F61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5575" y="2198412"/>
            <a:ext cx="4712850" cy="17773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3347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 dirty="0"/>
              <a:t>Normalização Homogênea</a:t>
            </a:r>
            <a:endParaRPr dirty="0"/>
          </a:p>
        </p:txBody>
      </p:sp>
      <p:sp>
        <p:nvSpPr>
          <p:cNvPr id="72" name="Google Shape;72;p10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pt-BR" dirty="0"/>
              <a:t>Eventualmente alguma transformação em um </a:t>
            </a:r>
            <a:r>
              <a:rPr lang="pt-BR" b="1" dirty="0"/>
              <a:t>ponto</a:t>
            </a:r>
            <a:r>
              <a:rPr lang="pt-BR" dirty="0"/>
              <a:t> pode fazer o valor dele mudar de 1.</a:t>
            </a:r>
          </a:p>
          <a:p>
            <a:pPr marL="0" lvl="0" indent="0">
              <a:spcBef>
                <a:spcPts val="360"/>
              </a:spcBef>
              <a:buSzPts val="1800"/>
            </a:pPr>
            <a:r>
              <a:rPr lang="pt-BR" dirty="0"/>
              <a:t>Sem problemas, para se recuperar as coordenadas ‘reais’ desse ponto, basta dividir as outras dimensões pelo valor do w (obviamente se w ≠ 0).</a:t>
            </a:r>
            <a:endParaRPr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15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407B9A0-BCD0-4439-67B9-EE7FBC3A4B36}"/>
                  </a:ext>
                </a:extLst>
              </p:cNvPr>
              <p:cNvSpPr txBox="1"/>
              <p:nvPr/>
            </p:nvSpPr>
            <p:spPr>
              <a:xfrm>
                <a:off x="735988" y="3208104"/>
                <a:ext cx="3322218" cy="14452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3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3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36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pt-BR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3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pt-BR" sz="36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36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pt-BR" sz="36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407B9A0-BCD0-4439-67B9-EE7FBC3A4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988" y="3208104"/>
                <a:ext cx="3322218" cy="1445204"/>
              </a:xfrm>
              <a:prstGeom prst="rect">
                <a:avLst/>
              </a:prstGeom>
              <a:blipFill>
                <a:blip r:embed="rId3"/>
                <a:stretch>
                  <a:fillRect t="-61739" r="-1145" b="-11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8C3A1A-C8D9-BBFD-40F9-A70471C76C8F}"/>
                  </a:ext>
                </a:extLst>
              </p:cNvPr>
              <p:cNvSpPr txBox="1"/>
              <p:nvPr/>
            </p:nvSpPr>
            <p:spPr>
              <a:xfrm>
                <a:off x="4859868" y="2937484"/>
                <a:ext cx="3322218" cy="19864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3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3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3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36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pt-BR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3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pt-BR" sz="36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36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pt-BR" sz="36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36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lang="pt-BR" sz="36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8C3A1A-C8D9-BBFD-40F9-A70471C76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868" y="2937484"/>
                <a:ext cx="3322218" cy="1986441"/>
              </a:xfrm>
              <a:prstGeom prst="rect">
                <a:avLst/>
              </a:prstGeom>
              <a:blipFill>
                <a:blip r:embed="rId4"/>
                <a:stretch>
                  <a:fillRect t="-46497" r="-1141" b="-67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655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>
            <a:spLocks noGrp="1"/>
          </p:cNvSpPr>
          <p:nvPr>
            <p:ph type="body" idx="1"/>
          </p:nvPr>
        </p:nvSpPr>
        <p:spPr>
          <a:xfrm>
            <a:off x="390550" y="838974"/>
            <a:ext cx="84282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pt-BR" sz="1800"/>
              <a:t>Transformações 3D como matrizes 3x3 e 3D-H como matrizes 4x4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23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18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pt-BR" sz="1800"/>
              <a:t>Escala: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1800"/>
          </a:p>
          <a:p>
            <a:pPr marL="0" lvl="0" indent="0" algn="l" rtl="0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Verdana"/>
              <a:buNone/>
            </a:pPr>
            <a:endParaRPr sz="135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21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18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pt-BR" sz="1800"/>
              <a:t>Cisalhamento:</a:t>
            </a:r>
            <a:br>
              <a:rPr lang="pt-BR" sz="1800"/>
            </a:br>
            <a:r>
              <a:rPr lang="pt-BR" sz="1400"/>
              <a:t>(em x)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18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8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18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pt-BR" sz="1800"/>
              <a:t>Translação:</a:t>
            </a:r>
            <a:endParaRPr/>
          </a:p>
        </p:txBody>
      </p:sp>
      <p:pic>
        <p:nvPicPr>
          <p:cNvPr id="201" name="Google Shape;20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9331" y="3132575"/>
            <a:ext cx="4170238" cy="101195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 dirty="0"/>
              <a:t>Indo para o espaço 3D (3D-H)</a:t>
            </a:r>
            <a:endParaRPr dirty="0"/>
          </a:p>
        </p:txBody>
      </p:sp>
      <p:sp>
        <p:nvSpPr>
          <p:cNvPr id="203" name="Google Shape;203;p2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16</a:t>
            </a:fld>
            <a:endParaRPr/>
          </a:p>
        </p:txBody>
      </p:sp>
      <p:pic>
        <p:nvPicPr>
          <p:cNvPr id="204" name="Google Shape;204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25021" y="1570470"/>
            <a:ext cx="4064549" cy="1011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46547" y="4500380"/>
            <a:ext cx="1854053" cy="100461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/>
          <p:nvPr/>
        </p:nvSpPr>
        <p:spPr>
          <a:xfrm>
            <a:off x="3358416" y="1248016"/>
            <a:ext cx="2704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3D                                       3D-H</a:t>
            </a:r>
            <a:endParaRPr sz="1100"/>
          </a:p>
        </p:txBody>
      </p:sp>
      <p:sp>
        <p:nvSpPr>
          <p:cNvPr id="207" name="Google Shape;207;p23"/>
          <p:cNvSpPr/>
          <p:nvPr/>
        </p:nvSpPr>
        <p:spPr>
          <a:xfrm>
            <a:off x="3358416" y="2806720"/>
            <a:ext cx="2704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3D                                       3D-H</a:t>
            </a:r>
            <a:endParaRPr sz="1100"/>
          </a:p>
        </p:txBody>
      </p:sp>
      <p:sp>
        <p:nvSpPr>
          <p:cNvPr id="208" name="Google Shape;208;p23"/>
          <p:cNvSpPr/>
          <p:nvPr/>
        </p:nvSpPr>
        <p:spPr>
          <a:xfrm>
            <a:off x="3873573" y="4203846"/>
            <a:ext cx="611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3D-H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Comutatividade da Rotação (em 2D)</a:t>
            </a:r>
            <a:endParaRPr/>
          </a:p>
        </p:txBody>
      </p:sp>
      <p:sp>
        <p:nvSpPr>
          <p:cNvPr id="215" name="Google Shape;215;p24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Em 2D, rotações em torno do mesmo centro comutam.</a:t>
            </a:r>
            <a:endParaRPr dirty="0"/>
          </a:p>
        </p:txBody>
      </p:sp>
      <p:sp>
        <p:nvSpPr>
          <p:cNvPr id="216" name="Google Shape;216;p24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17</a:t>
            </a:fld>
            <a:endParaRPr/>
          </a:p>
        </p:txBody>
      </p:sp>
      <p:pic>
        <p:nvPicPr>
          <p:cNvPr id="217" name="Google Shape;21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8133" y="1181739"/>
            <a:ext cx="7304077" cy="395117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4"/>
          <p:cNvSpPr/>
          <p:nvPr/>
        </p:nvSpPr>
        <p:spPr>
          <a:xfrm>
            <a:off x="2365161" y="1956397"/>
            <a:ext cx="12795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rotacione 40º </a:t>
            </a:r>
            <a:endParaRPr sz="1100"/>
          </a:p>
        </p:txBody>
      </p:sp>
      <p:sp>
        <p:nvSpPr>
          <p:cNvPr id="219" name="Google Shape;219;p24"/>
          <p:cNvSpPr/>
          <p:nvPr/>
        </p:nvSpPr>
        <p:spPr>
          <a:xfrm>
            <a:off x="5193685" y="1956397"/>
            <a:ext cx="12795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rotacione 20º </a:t>
            </a:r>
            <a:endParaRPr sz="1100"/>
          </a:p>
        </p:txBody>
      </p:sp>
      <p:sp>
        <p:nvSpPr>
          <p:cNvPr id="220" name="Google Shape;220;p24"/>
          <p:cNvSpPr/>
          <p:nvPr/>
        </p:nvSpPr>
        <p:spPr>
          <a:xfrm>
            <a:off x="2479853" y="3890463"/>
            <a:ext cx="12795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rotacione 20º </a:t>
            </a:r>
            <a:endParaRPr sz="1100"/>
          </a:p>
        </p:txBody>
      </p:sp>
      <p:sp>
        <p:nvSpPr>
          <p:cNvPr id="221" name="Google Shape;221;p24"/>
          <p:cNvSpPr/>
          <p:nvPr/>
        </p:nvSpPr>
        <p:spPr>
          <a:xfrm>
            <a:off x="5193684" y="3890463"/>
            <a:ext cx="12795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rotacione 40º </a:t>
            </a:r>
            <a:endParaRPr sz="1100"/>
          </a:p>
        </p:txBody>
      </p:sp>
      <p:sp>
        <p:nvSpPr>
          <p:cNvPr id="222" name="Google Shape;222;p24"/>
          <p:cNvSpPr/>
          <p:nvPr/>
        </p:nvSpPr>
        <p:spPr>
          <a:xfrm>
            <a:off x="1387277" y="5095664"/>
            <a:ext cx="572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Mesmo resultado. Bom! É comutativo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 dirty="0"/>
              <a:t>Rotações em 3D – ângulos de </a:t>
            </a:r>
            <a:r>
              <a:rPr lang="pt-BR" dirty="0" err="1"/>
              <a:t>euler</a:t>
            </a:r>
            <a:endParaRPr dirty="0"/>
          </a:p>
        </p:txBody>
      </p:sp>
      <p:sp>
        <p:nvSpPr>
          <p:cNvPr id="271" name="Google Shape;271;p2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18</a:t>
            </a:fld>
            <a:endParaRPr/>
          </a:p>
        </p:txBody>
      </p:sp>
      <p:pic>
        <p:nvPicPr>
          <p:cNvPr id="272" name="Google Shape;27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1109" y="2186622"/>
            <a:ext cx="3523419" cy="331043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9"/>
          <p:cNvSpPr txBox="1">
            <a:spLocks noGrp="1"/>
          </p:cNvSpPr>
          <p:nvPr>
            <p:ph type="body" idx="1"/>
          </p:nvPr>
        </p:nvSpPr>
        <p:spPr>
          <a:xfrm>
            <a:off x="263951" y="707011"/>
            <a:ext cx="8691513" cy="462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pt-BR" dirty="0"/>
              <a:t>Como expressamos rotações em 3D?</a:t>
            </a:r>
            <a:endParaRPr sz="2800" dirty="0"/>
          </a:p>
          <a:p>
            <a:pPr marL="0" lvl="0" indent="0" algn="l" rtl="0">
              <a:spcBef>
                <a:spcPts val="1008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pt-BR" dirty="0"/>
              <a:t>Possibilidade: aplicar rotações em torno dos três eixos? (</a:t>
            </a:r>
            <a:r>
              <a:rPr lang="pt-BR" dirty="0" err="1"/>
              <a:t>X</a:t>
            </a:r>
            <a:r>
              <a:rPr lang="pt-BR" dirty="0"/>
              <a:t>, </a:t>
            </a:r>
            <a:r>
              <a:rPr lang="pt-BR" dirty="0" err="1"/>
              <a:t>Y</a:t>
            </a:r>
            <a:r>
              <a:rPr lang="pt-BR" dirty="0"/>
              <a:t>, </a:t>
            </a:r>
            <a:r>
              <a:rPr lang="pt-BR" dirty="0" err="1"/>
              <a:t>Z</a:t>
            </a:r>
            <a:r>
              <a:rPr lang="pt-BR" dirty="0"/>
              <a:t>) </a:t>
            </a:r>
            <a:endParaRPr sz="2800" dirty="0"/>
          </a:p>
          <a:p>
            <a:pPr marL="0" lvl="0" indent="0" algn="l" rtl="0">
              <a:spcBef>
                <a:spcPts val="1008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pt-BR" dirty="0"/>
              <a:t>Essa proposta é chamada de ângulos de Euler</a:t>
            </a: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 dirty="0"/>
              <a:t>Eixos e Rotações em 3D</a:t>
            </a:r>
            <a:endParaRPr dirty="0"/>
          </a:p>
        </p:txBody>
      </p:sp>
      <p:sp>
        <p:nvSpPr>
          <p:cNvPr id="229" name="Google Shape;229;p25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19</a:t>
            </a:fld>
            <a:endParaRPr dirty="0"/>
          </a:p>
        </p:txBody>
      </p:sp>
      <p:pic>
        <p:nvPicPr>
          <p:cNvPr id="230" name="Google Shape;23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407" y="838985"/>
            <a:ext cx="5547762" cy="4496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Rotações em 3D por ângulos de Euler</a:t>
            </a:r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body" idx="1"/>
          </p:nvPr>
        </p:nvSpPr>
        <p:spPr>
          <a:xfrm>
            <a:off x="390550" y="838984"/>
            <a:ext cx="3361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pt-BR" sz="1800"/>
              <a:t>Rotação sobre os eixos:</a:t>
            </a:r>
            <a:endParaRPr sz="1800"/>
          </a:p>
        </p:txBody>
      </p:sp>
      <p:sp>
        <p:nvSpPr>
          <p:cNvPr id="247" name="Google Shape;247;p27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20</a:t>
            </a:fld>
            <a:endParaRPr/>
          </a:p>
        </p:txBody>
      </p:sp>
      <p:pic>
        <p:nvPicPr>
          <p:cNvPr id="248" name="Google Shape;24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7877" y="1491512"/>
            <a:ext cx="2774526" cy="273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7"/>
          <p:cNvSpPr/>
          <p:nvPr/>
        </p:nvSpPr>
        <p:spPr>
          <a:xfrm>
            <a:off x="6122075" y="4149850"/>
            <a:ext cx="27744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pontos que estiverem sobre o eixo de rotação ficam inalterados.</a:t>
            </a:r>
            <a:endParaRPr sz="1200"/>
          </a:p>
        </p:txBody>
      </p:sp>
      <p:pic>
        <p:nvPicPr>
          <p:cNvPr id="250" name="Google Shape;250;p27" descr="{&quot;backgroundColor&quot;:&quot;#FFFFFF&quot;,&quot;font&quot;:{&quot;color&quot;:&quot;#000000&quot;,&quot;size&quot;:12,&quot;family&quot;:&quot;Arial&quot;},&quot;id&quot;:&quot;8&quot;,&quot;type&quot;:&quot;$$&quot;,&quot;backgroundColorModified&quot;:null,&quot;aid&quot;:null,&quot;code&quot;:&quot;$$\\mathbf{R}_{x,\\theta}=\\begin{bmatrix}\n{1}&amp;{0}&amp;{0}\\\\\n{0}&amp;{\\cos\\theta}&amp;{-\\sin\\theta}\\\\\n{0}&amp;{\\sin\\theta}&amp;{\\cos\\theta}\\\\\n\\end{bmatrix}$$&quot;,&quot;ts&quot;:1630434235278,&quot;cs&quot;:&quot;ops5+jvhpVkI6u0VS36drQ==&quot;,&quot;size&quot;:{&quot;width&quot;:214.33333333333334,&quot;height&quot;:71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725" y="1856823"/>
            <a:ext cx="2175288" cy="72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7" descr="{&quot;font&quot;:{&quot;family&quot;:&quot;Arial&quot;,&quot;color&quot;:&quot;#000000&quot;,&quot;size&quot;:12.5},&quot;type&quot;:&quot;$$&quot;,&quot;aid&quot;:null,&quot;id&quot;:&quot;8&quot;,&quot;code&quot;:&quot;$$\\mathbf{R}_{y,\\theta}=\\begin{bmatrix}\n{\\cos\\theta}&amp;{0}&amp;{\\sin\\theta}\\\\\n{0}&amp;{1}&amp;{0}\\\\\n{-\\sin\\theta}&amp;{0}&amp;{\\cos\\theta}\\\\\n\\end{bmatrix}$$&quot;,&quot;backgroundColor&quot;:&quot;#FFFFFF&quot;,&quot;backgroundColorModified&quot;:false,&quot;ts&quot;:1630434454709,&quot;cs&quot;:&quot;YA/YgMaRKeq+ogL1O1pW4Q==&quot;,&quot;size&quot;:{&quot;width&quot;:222.20000000000005,&quot;height&quot;:74}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120" y="3126924"/>
            <a:ext cx="211645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7" descr="{&quot;code&quot;:&quot;$$\\mathbf{R}_{x,\\theta}=\\begin{bmatrix}\n{1}&amp;{0}&amp;{0}&amp;{0}\\\\\n{0}&amp;{\\cos\\theta}&amp;{-\\sin\\theta}&amp;{0}\\\\\n{0}&amp;{\\sin\\theta}&amp;{\\cos\\theta}&amp;{0}\\\\\n{0}&amp;{0}&amp;{0}&amp;{1}\\\\\n\\end{bmatrix}$$&quot;,&quot;backgroundColor&quot;:&quot;#FFFFFF&quot;,&quot;backgroundColorModified&quot;:false,&quot;aid&quot;:null,&quot;font&quot;:{&quot;size&quot;:12.5,&quot;family&quot;:&quot;Arial&quot;,&quot;color&quot;:&quot;#000000&quot;},&quot;type&quot;:&quot;$$&quot;,&quot;id&quot;:&quot;8&quot;,&quot;ts&quot;:1630434688679,&quot;cs&quot;:&quot;w44DstqgaHAPJajKtan05g==&quot;,&quot;size&quot;:{&quot;width&quot;:253,&quot;height&quot;:102}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18970" y="1731350"/>
            <a:ext cx="2409825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7"/>
          <p:cNvSpPr/>
          <p:nvPr/>
        </p:nvSpPr>
        <p:spPr>
          <a:xfrm>
            <a:off x="425348" y="1383725"/>
            <a:ext cx="5965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chemeClr val="dk1"/>
                </a:solidFill>
              </a:rPr>
              <a:t>                          </a:t>
            </a:r>
            <a:r>
              <a:rPr lang="pt-BR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3D                                             </a:t>
            </a:r>
            <a:r>
              <a:rPr lang="pt-BR" sz="1300" b="1">
                <a:solidFill>
                  <a:schemeClr val="dk1"/>
                </a:solidFill>
              </a:rPr>
              <a:t> </a:t>
            </a:r>
            <a:r>
              <a:rPr lang="pt-BR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3D-H</a:t>
            </a:r>
            <a:endParaRPr sz="1100"/>
          </a:p>
        </p:txBody>
      </p:sp>
      <p:pic>
        <p:nvPicPr>
          <p:cNvPr id="254" name="Google Shape;254;p27" descr="{&quot;font&quot;:{&quot;family&quot;:&quot;Arial&quot;,&quot;color&quot;:&quot;#000000&quot;,&quot;size&quot;:12.5},&quot;backgroundColor&quot;:&quot;#FFFFFF&quot;,&quot;code&quot;:&quot;$$\\mathbf{R}_{z,\\theta}=\\begin{bmatrix}\n{\\cos\\theta}&amp;{-\\sin\\theta}&amp;{0}\\\\\n{\\sin\\theta}&amp;{\\cos\\theta}&amp;{0}\\\\\n{0}&amp;{0}&amp;{1}\\\\\n\\end{bmatrix}$$&quot;,&quot;aid&quot;:null,&quot;backgroundColorModified&quot;:false,&quot;type&quot;:&quot;$$&quot;,&quot;id&quot;:&quot;8&quot;,&quot;ts&quot;:1630434521515,&quot;cs&quot;:&quot;vd55MiwPz4XXPZPK7OevAw==&quot;,&quot;size&quot;:{&quot;width&quot;:222,&quot;height&quot;:74}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2094" y="4414724"/>
            <a:ext cx="21145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7" descr="{&quot;code&quot;:&quot;$$\\mathbf{R}_{y,\\theta}=\\begin{bmatrix}\n{\\cos\\theta}&amp;{0}&amp;{\\sin\\theta}&amp;{0}\\\\\n{0}&amp;{1}&amp;{0}&amp;{0}\\\\\n{-\\sin\\theta}&amp;{0}&amp;{\\cos\\theta}&amp;{0}\\\\\n{0}&amp;{0}&amp;{0}&amp;{1}\\\\\n\\end{bmatrix}$$&quot;,&quot;id&quot;:&quot;8&quot;,&quot;backgroundColorModified&quot;:false,&quot;font&quot;:{&quot;size&quot;:12.5,&quot;family&quot;:&quot;Arial&quot;,&quot;color&quot;:&quot;#000000&quot;},&quot;aid&quot;:null,&quot;backgroundColor&quot;:&quot;#FFFFFF&quot;,&quot;type&quot;:&quot;$$&quot;,&quot;ts&quot;:1630434829377,&quot;cs&quot;:&quot;iErG8jLsH5mngsvDEzQRlg==&quot;,&quot;size&quot;:{&quot;width&quot;:252.19999999999996,&quot;height&quot;:102}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22780" y="2993575"/>
            <a:ext cx="2402205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7" descr="{&quot;code&quot;:&quot;$$\\mathbf{R}_{z,\\theta}=\\begin{bmatrix}\n{\\cos\\theta}&amp;{-\\sin\\theta}&amp;{0}&amp;{0}\\\\\n{\\sin\\theta}&amp;{\\cos\\theta}&amp;{0}&amp;{0}\\\\\n{0}&amp;{0}&amp;{1}&amp;{0}\\\\\n{0}&amp;{0}&amp;{0}&amp;{1}\\\\\n\\end{bmatrix}$$&quot;,&quot;id&quot;:&quot;8&quot;,&quot;backgroundColorModified&quot;:false,&quot;font&quot;:{&quot;size&quot;:12.5,&quot;family&quot;:&quot;Arial&quot;,&quot;color&quot;:&quot;#000000&quot;},&quot;type&quot;:&quot;$$&quot;,&quot;backgroundColor&quot;:&quot;#FFFFFF&quot;,&quot;aid&quot;:null,&quot;ts&quot;:1630434914004,&quot;cs&quot;:&quot;lgrIBext6RV5s81eV6J8JA==&quot;,&quot;size&quot;:{&quot;width&quot;:251.19999999999996,&quot;height&quot;:102}}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27543" y="4281375"/>
            <a:ext cx="2392680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Comutatividade da Rotação (em 3D)</a:t>
            </a:r>
            <a:endParaRPr/>
          </a:p>
        </p:txBody>
      </p:sp>
      <p:sp>
        <p:nvSpPr>
          <p:cNvPr id="236" name="Google Shape;236;p26"/>
          <p:cNvSpPr txBox="1">
            <a:spLocks noGrp="1"/>
          </p:cNvSpPr>
          <p:nvPr>
            <p:ph type="body" idx="1"/>
          </p:nvPr>
        </p:nvSpPr>
        <p:spPr>
          <a:xfrm>
            <a:off x="390547" y="838986"/>
            <a:ext cx="5859423" cy="306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Experimento, gire a garrafa (sempre no sentido positivo da regra da mão direita):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198900" lvl="0" indent="-198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/>
              <a:t>Gire 90° em torno de </a:t>
            </a:r>
            <a:r>
              <a:rPr lang="pt-BR" dirty="0" err="1"/>
              <a:t>Y</a:t>
            </a:r>
            <a:r>
              <a:rPr lang="pt-BR" dirty="0"/>
              <a:t>, a seguir 90° em torno de </a:t>
            </a:r>
            <a:r>
              <a:rPr lang="pt-BR" dirty="0" err="1"/>
              <a:t>Z</a:t>
            </a:r>
            <a:r>
              <a:rPr lang="pt-BR" dirty="0"/>
              <a:t>, a seguir 90° em torno de </a:t>
            </a:r>
            <a:r>
              <a:rPr lang="pt-BR" dirty="0" err="1"/>
              <a:t>X</a:t>
            </a:r>
            <a:endParaRPr dirty="0"/>
          </a:p>
          <a:p>
            <a:pPr marL="198900" lvl="0" indent="-198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/>
              <a:t>Gire 90° em torno de </a:t>
            </a:r>
            <a:r>
              <a:rPr lang="pt-BR" dirty="0" err="1"/>
              <a:t>Z</a:t>
            </a:r>
            <a:r>
              <a:rPr lang="pt-BR" dirty="0"/>
              <a:t>, a seguir 90° em torno de </a:t>
            </a:r>
            <a:r>
              <a:rPr lang="pt-BR" dirty="0" err="1"/>
              <a:t>Y</a:t>
            </a:r>
            <a:r>
              <a:rPr lang="pt-BR" dirty="0"/>
              <a:t>, a seguir 90° em torno de </a:t>
            </a:r>
            <a:r>
              <a:rPr lang="pt-BR" dirty="0" err="1"/>
              <a:t>X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	Houve alguma diferença?</a:t>
            </a:r>
            <a:endParaRPr dirty="0"/>
          </a:p>
        </p:txBody>
      </p:sp>
      <p:sp>
        <p:nvSpPr>
          <p:cNvPr id="237" name="Google Shape;237;p26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21</a:t>
            </a:fld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7168" y="946945"/>
            <a:ext cx="2461612" cy="442599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588077" y="4230200"/>
            <a:ext cx="430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Não é o mesmo resultado.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Isso pode dar problemas.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Problema 1: Ordem das rotações</a:t>
            </a:r>
            <a:endParaRPr dirty="0"/>
          </a:p>
        </p:txBody>
      </p:sp>
      <p:sp>
        <p:nvSpPr>
          <p:cNvPr id="263" name="Google Shape;263;p2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22</a:t>
            </a:fld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900" y="629717"/>
            <a:ext cx="6291549" cy="4718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BC262A-8189-480F-868D-1EFA3F8A0278}"/>
              </a:ext>
            </a:extLst>
          </p:cNvPr>
          <p:cNvGrpSpPr/>
          <p:nvPr/>
        </p:nvGrpSpPr>
        <p:grpSpPr>
          <a:xfrm>
            <a:off x="6845300" y="1500033"/>
            <a:ext cx="2040996" cy="3317379"/>
            <a:chOff x="6845300" y="1500033"/>
            <a:chExt cx="2040996" cy="3317379"/>
          </a:xfrm>
        </p:grpSpPr>
        <p:pic>
          <p:nvPicPr>
            <p:cNvPr id="1026" name="Picture 2" descr="enter image description here">
              <a:extLst>
                <a:ext uri="{FF2B5EF4-FFF2-40B4-BE49-F238E27FC236}">
                  <a16:creationId xmlns:a16="http://schemas.microsoft.com/office/drawing/2014/main" id="{C220469B-C4FC-7745-9D09-B4E01BE099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5300" y="1500033"/>
              <a:ext cx="2040996" cy="30403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6278AFA-E23B-D67F-C720-460F89D53C8C}"/>
                </a:ext>
              </a:extLst>
            </p:cNvPr>
            <p:cNvSpPr txBox="1"/>
            <p:nvPr/>
          </p:nvSpPr>
          <p:spPr>
            <a:xfrm>
              <a:off x="6845300" y="4540413"/>
              <a:ext cx="204099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/>
                <a:t>opções do Blender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 dirty="0"/>
              <a:t>Problema 2: </a:t>
            </a:r>
            <a:r>
              <a:rPr lang="pt-BR" dirty="0" err="1"/>
              <a:t>Gimbal</a:t>
            </a:r>
            <a:r>
              <a:rPr lang="pt-BR" dirty="0"/>
              <a:t> </a:t>
            </a:r>
            <a:r>
              <a:rPr lang="pt-BR" dirty="0" err="1"/>
              <a:t>Lock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210CF3-0215-FA65-38F4-BF1D2C36F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2075" indent="-92075"/>
            <a:r>
              <a:rPr lang="pt-BR" dirty="0"/>
              <a:t>Dois eixos de rotação tornam-se alinhados, fazendo com que dois graus de liberdade se tornem indistinguíveis/degenerados.</a:t>
            </a:r>
          </a:p>
        </p:txBody>
      </p:sp>
      <p:sp>
        <p:nvSpPr>
          <p:cNvPr id="280" name="Google Shape;280;p3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23</a:t>
            </a:fld>
            <a:endParaRPr/>
          </a:p>
        </p:txBody>
      </p:sp>
      <p:pic>
        <p:nvPicPr>
          <p:cNvPr id="3" name="Google Shape;274;p29" descr="A close up of a logo&#10;&#10;Description automatically generated">
            <a:extLst>
              <a:ext uri="{FF2B5EF4-FFF2-40B4-BE49-F238E27FC236}">
                <a16:creationId xmlns:a16="http://schemas.microsoft.com/office/drawing/2014/main" id="{C8F2C6CD-77BD-A8F1-AAC6-3159D8EF46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6689" y="1724522"/>
            <a:ext cx="3610622" cy="3610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 dirty="0"/>
              <a:t>Problema 2: </a:t>
            </a:r>
            <a:r>
              <a:rPr lang="pt-BR" dirty="0" err="1"/>
              <a:t>Gimbal</a:t>
            </a:r>
            <a:r>
              <a:rPr lang="pt-BR" dirty="0"/>
              <a:t> </a:t>
            </a:r>
            <a:r>
              <a:rPr lang="pt-BR" dirty="0" err="1"/>
              <a:t>Lock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210CF3-0215-FA65-38F4-BF1D2C36F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Vídeo sobre </a:t>
            </a:r>
            <a:r>
              <a:rPr lang="pt-BR" dirty="0" err="1"/>
              <a:t>Gimbal</a:t>
            </a:r>
            <a:r>
              <a:rPr lang="pt-BR" dirty="0"/>
              <a:t> </a:t>
            </a:r>
            <a:r>
              <a:rPr lang="pt-BR" dirty="0" err="1"/>
              <a:t>Lock</a:t>
            </a:r>
            <a:endParaRPr lang="pt-BR" dirty="0"/>
          </a:p>
        </p:txBody>
      </p:sp>
      <p:sp>
        <p:nvSpPr>
          <p:cNvPr id="280" name="Google Shape;280;p3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24</a:t>
            </a:fld>
            <a:endParaRPr/>
          </a:p>
        </p:txBody>
      </p:sp>
      <p:sp>
        <p:nvSpPr>
          <p:cNvPr id="281" name="Google Shape;281;p30"/>
          <p:cNvSpPr/>
          <p:nvPr/>
        </p:nvSpPr>
        <p:spPr>
          <a:xfrm>
            <a:off x="1828788" y="4948942"/>
            <a:ext cx="548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https://www.youtube.com/watch?v=zc8b2Jo7mno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2" name="Google Shape;282;p30" descr="In this video we explore Euler Rotations, the most common method for orienting objects in 3d.   It's by-product  &quot;gimbal lock&quot; can cause headaches for animators because the animated motion can move in strange ways. Here we learn how euler's &quot;rotation order&quot; is a bit like hierachies, and how changing this order can help us to avoid gimbal problems.  This is demonstrated with a solution to a common camera problem, by finding the correct rotation order." title="Euler (gimbal lock) Explaine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5988" y="141856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48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dirty="0"/>
              <a:t>problema 3 : </a:t>
            </a:r>
            <a:r>
              <a:rPr lang="en-US" dirty="0" err="1"/>
              <a:t>interpolação</a:t>
            </a:r>
            <a:r>
              <a:rPr lang="en-US" dirty="0"/>
              <a:t> de </a:t>
            </a:r>
            <a:r>
              <a:rPr lang="en-US" dirty="0" err="1"/>
              <a:t>rotações</a:t>
            </a:r>
            <a:endParaRPr dirty="0"/>
          </a:p>
        </p:txBody>
      </p:sp>
      <p:sp>
        <p:nvSpPr>
          <p:cNvPr id="289" name="Google Shape;289;p31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As interpolações de rotações podem ficar muito estranhas</a:t>
            </a:r>
            <a:endParaRPr dirty="0"/>
          </a:p>
        </p:txBody>
      </p:sp>
      <p:sp>
        <p:nvSpPr>
          <p:cNvPr id="290" name="Google Shape;290;p31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25</a:t>
            </a:fld>
            <a:endParaRPr/>
          </a:p>
        </p:txBody>
      </p:sp>
      <p:pic>
        <p:nvPicPr>
          <p:cNvPr id="291" name="Google Shape;29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1645588"/>
            <a:ext cx="6096000" cy="33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Rotações em 3D</a:t>
            </a:r>
            <a:endParaRPr/>
          </a:p>
        </p:txBody>
      </p:sp>
      <p:sp>
        <p:nvSpPr>
          <p:cNvPr id="297" name="Google Shape;297;p32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765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Para definir cada um dos ângulos a área de aviação usa os seguintes termos:</a:t>
            </a:r>
            <a:endParaRPr dirty="0"/>
          </a:p>
        </p:txBody>
      </p:sp>
      <p:sp>
        <p:nvSpPr>
          <p:cNvPr id="298" name="Google Shape;298;p3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26</a:t>
            </a:fld>
            <a:endParaRPr/>
          </a:p>
        </p:txBody>
      </p:sp>
      <p:pic>
        <p:nvPicPr>
          <p:cNvPr id="299" name="Google Shape;299;p32" descr="page6image316254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0548" y="1660032"/>
            <a:ext cx="3892062" cy="256669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2"/>
          <p:cNvSpPr txBox="1"/>
          <p:nvPr/>
        </p:nvSpPr>
        <p:spPr>
          <a:xfrm>
            <a:off x="269631" y="4436055"/>
            <a:ext cx="8651631" cy="765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None/>
            </a:pPr>
            <a:r>
              <a:rPr lang="pt-BR" sz="1300" b="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Wikipédia: Os </a:t>
            </a:r>
            <a:r>
              <a:rPr lang="pt-BR" sz="13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Ângulos de </a:t>
            </a:r>
            <a:r>
              <a:rPr lang="pt-BR" sz="1300" b="1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Tait</a:t>
            </a:r>
            <a:r>
              <a:rPr lang="pt-BR" sz="13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–Bryan </a:t>
            </a:r>
            <a:r>
              <a:rPr lang="pt-BR" sz="1300" b="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(nomeados através de Peter Guthrie </a:t>
            </a:r>
            <a:r>
              <a:rPr lang="pt-BR" sz="1300" b="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Tait</a:t>
            </a:r>
            <a:r>
              <a:rPr lang="pt-BR" sz="1300" b="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 e George Bryan), são um tipo específico de ângulos de Euler usados normalmente em aplicações aeroespaciais para definir a relativa orientação do aeroplano. Os três ângulos especificados </a:t>
            </a:r>
            <a:r>
              <a:rPr lang="pt-BR" sz="13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nesta</a:t>
            </a:r>
            <a:r>
              <a:rPr lang="pt-BR" sz="1300" b="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fórmula são especificados como </a:t>
            </a:r>
            <a:r>
              <a:rPr lang="pt-BR" sz="1300" b="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empinamento</a:t>
            </a:r>
            <a:r>
              <a:rPr lang="pt-BR" sz="1300" b="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</a:t>
            </a:r>
            <a:r>
              <a:rPr lang="pt-BR" sz="1300" b="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pitch</a:t>
            </a:r>
            <a:r>
              <a:rPr lang="pt-BR" sz="1300" b="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 ou </a:t>
            </a:r>
            <a:r>
              <a:rPr lang="pt-BR" sz="1300" b="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θ</a:t>
            </a:r>
            <a:r>
              <a:rPr lang="pt-BR" sz="1300" b="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), cabeceio (</a:t>
            </a:r>
            <a:r>
              <a:rPr lang="pt-BR" sz="1300" b="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yaw</a:t>
            </a:r>
            <a:r>
              <a:rPr lang="pt-BR" sz="1300" b="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 ou </a:t>
            </a:r>
            <a:r>
              <a:rPr lang="pt-BR" sz="1300" b="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ψ</a:t>
            </a:r>
            <a:r>
              <a:rPr lang="pt-BR" sz="1300" b="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 e balanceio (</a:t>
            </a:r>
            <a:r>
              <a:rPr lang="pt-BR" sz="1300" b="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roll</a:t>
            </a:r>
            <a:r>
              <a:rPr lang="pt-BR" sz="1300" b="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 ou </a:t>
            </a:r>
            <a:r>
              <a:rPr lang="pt-BR" sz="1300" b="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φ</a:t>
            </a:r>
            <a:r>
              <a:rPr lang="pt-BR" sz="1300" b="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). </a:t>
            </a:r>
            <a:endParaRPr dirty="0"/>
          </a:p>
        </p:txBody>
      </p:sp>
      <p:sp>
        <p:nvSpPr>
          <p:cNvPr id="301" name="Google Shape;301;p32"/>
          <p:cNvSpPr/>
          <p:nvPr/>
        </p:nvSpPr>
        <p:spPr>
          <a:xfrm>
            <a:off x="2703342" y="5291473"/>
            <a:ext cx="529183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https://pt.wikipedia.org/wiki/%C3%82ngulos_de_Tait%E2%80%93Bryan</a:t>
            </a:r>
            <a:endParaRPr lang="pt-BR" sz="12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canalpiloto.com.br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/teorias-rotativas-05/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Teorias Rotativas 05 - Canal Piloto">
            <a:extLst>
              <a:ext uri="{FF2B5EF4-FFF2-40B4-BE49-F238E27FC236}">
                <a16:creationId xmlns:a16="http://schemas.microsoft.com/office/drawing/2014/main" id="{B016E0AE-2A5A-A2CD-81ED-2A20EE80D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986" y="1660032"/>
            <a:ext cx="3790603" cy="247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 dirty="0"/>
              <a:t>Representação Alternativa de Rotações 3D</a:t>
            </a:r>
            <a:endParaRPr dirty="0"/>
          </a:p>
        </p:txBody>
      </p:sp>
      <p:sp>
        <p:nvSpPr>
          <p:cNvPr id="333" name="Google Shape;333;p36"/>
          <p:cNvSpPr txBox="1">
            <a:spLocks noGrp="1"/>
          </p:cNvSpPr>
          <p:nvPr>
            <p:ph type="body" idx="1"/>
          </p:nvPr>
        </p:nvSpPr>
        <p:spPr>
          <a:xfrm>
            <a:off x="237506" y="946504"/>
            <a:ext cx="84282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b="1" dirty="0"/>
              <a:t>Quatérnios </a:t>
            </a:r>
            <a:r>
              <a:rPr lang="pt-PT" b="1" dirty="0"/>
              <a:t> (Portugal: Quaterniões)</a:t>
            </a:r>
            <a:r>
              <a:rPr lang="pt-PT" b="1" noProof="0" dirty="0"/>
              <a:t>  </a:t>
            </a:r>
            <a:r>
              <a:rPr lang="en-US" b="1" noProof="0" dirty="0"/>
              <a:t>(English: Quaternions)</a:t>
            </a:r>
            <a:endParaRPr b="1" dirty="0"/>
          </a:p>
        </p:txBody>
      </p:sp>
      <p:sp>
        <p:nvSpPr>
          <p:cNvPr id="334" name="Google Shape;334;p36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27</a:t>
            </a:fld>
            <a:endParaRPr/>
          </a:p>
        </p:txBody>
      </p:sp>
      <p:sp>
        <p:nvSpPr>
          <p:cNvPr id="335" name="Google Shape;335;p36"/>
          <p:cNvSpPr txBox="1"/>
          <p:nvPr/>
        </p:nvSpPr>
        <p:spPr>
          <a:xfrm>
            <a:off x="2371975" y="5189964"/>
            <a:ext cx="4400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/>
              <a:t>The Strange Numbers That Birthed Modern Algebra; Quanta Magazine</a:t>
            </a:r>
            <a:endParaRPr sz="700"/>
          </a:p>
        </p:txBody>
      </p:sp>
      <p:pic>
        <p:nvPicPr>
          <p:cNvPr id="336" name="Google Shape;336;p36" descr="{&quot;code&quot;:&quot;$$a\\,+\\,b\\mathbf{i}\\,+\\,c\\mathbf{j}\\,+\\,d\\mathbf{k}$$&quot;,&quot;backgroundColor&quot;:&quot;#FFFFFF&quot;,&quot;type&quot;:&quot;$$&quot;,&quot;aid&quot;:null,&quot;id&quot;:&quot;1&quot;,&quot;backgroundColorModified&quot;:false,&quot;font&quot;:{&quot;family&quot;:&quot;Arial&quot;,&quot;size&quot;:38,&quot;color&quot;:&quot;#000000&quot;},&quot;ts&quot;:1629396496076,&quot;cs&quot;:&quot;6X/gq1v/2sLhyaI3qHTPNA==&quot;,&quot;size&quot;:{&quot;width&quot;:464,&quot;height&quot;:53.666666666666664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843" y="1648184"/>
            <a:ext cx="6986650" cy="80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2960" y="2636735"/>
            <a:ext cx="4679153" cy="2602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Quatérnios</a:t>
            </a:r>
            <a:endParaRPr/>
          </a:p>
        </p:txBody>
      </p:sp>
      <p:sp>
        <p:nvSpPr>
          <p:cNvPr id="344" name="Google Shape;344;p37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Podemos pensar os números Complexos (</a:t>
            </a:r>
            <a:r>
              <a:rPr lang="pt-BR" dirty="0" err="1"/>
              <a:t>ℂ</a:t>
            </a:r>
            <a:r>
              <a:rPr lang="pt-BR" dirty="0"/>
              <a:t>) como uma extensão dimensional dos números Reais (</a:t>
            </a:r>
            <a:r>
              <a:rPr lang="pt-BR" dirty="0" err="1"/>
              <a:t>ℝ</a:t>
            </a:r>
            <a:r>
              <a:rPr lang="pt-BR" dirty="0"/>
              <a:t>).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Dessa forma, os Quatérnios (ℍ) formam uma álgebra real de dimensão 4, com base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1 , </a:t>
            </a: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, j , k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pt-BR" dirty="0"/>
              <a:t>.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5" name="Google Shape;345;p37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são Quatérnios</a:t>
            </a:r>
            <a:endParaRPr/>
          </a:p>
        </p:txBody>
      </p:sp>
      <p:sp>
        <p:nvSpPr>
          <p:cNvPr id="352" name="Google Shape;352;p38"/>
          <p:cNvSpPr txBox="1">
            <a:spLocks noGrp="1"/>
          </p:cNvSpPr>
          <p:nvPr>
            <p:ph type="body" idx="1"/>
          </p:nvPr>
        </p:nvSpPr>
        <p:spPr>
          <a:xfrm>
            <a:off x="357900" y="896479"/>
            <a:ext cx="8428200" cy="415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pt-BR" dirty="0"/>
              <a:t>São quatro valores reais e três unidades imaginárias:</a:t>
            </a:r>
            <a:endParaRPr dirty="0"/>
          </a:p>
        </p:txBody>
      </p:sp>
      <p:sp>
        <p:nvSpPr>
          <p:cNvPr id="353" name="Google Shape;353;p3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29</a:t>
            </a:fld>
            <a:endParaRPr/>
          </a:p>
        </p:txBody>
      </p:sp>
      <p:sp>
        <p:nvSpPr>
          <p:cNvPr id="355" name="Google Shape;355;p38"/>
          <p:cNvSpPr txBox="1"/>
          <p:nvPr/>
        </p:nvSpPr>
        <p:spPr>
          <a:xfrm>
            <a:off x="774275" y="3778627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chemeClr val="dk1"/>
                </a:solidFill>
              </a:rPr>
              <a:t>Reais (escalares)</a:t>
            </a:r>
            <a:endParaRPr sz="1700" b="1"/>
          </a:p>
        </p:txBody>
      </p:sp>
      <p:sp>
        <p:nvSpPr>
          <p:cNvPr id="356" name="Google Shape;356;p38"/>
          <p:cNvSpPr txBox="1"/>
          <p:nvPr/>
        </p:nvSpPr>
        <p:spPr>
          <a:xfrm>
            <a:off x="774267" y="1844393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chemeClr val="dk1"/>
                </a:solidFill>
              </a:rPr>
              <a:t>Imaginários:</a:t>
            </a:r>
            <a:endParaRPr sz="1700" b="1"/>
          </a:p>
        </p:txBody>
      </p:sp>
      <p:sp>
        <p:nvSpPr>
          <p:cNvPr id="357" name="Google Shape;357;p38"/>
          <p:cNvSpPr txBox="1"/>
          <p:nvPr/>
        </p:nvSpPr>
        <p:spPr>
          <a:xfrm>
            <a:off x="533925" y="4726045"/>
            <a:ext cx="7841100" cy="40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 err="1">
                <a:solidFill>
                  <a:schemeClr val="dk1"/>
                </a:solidFill>
              </a:rPr>
              <a:t>Obs</a:t>
            </a:r>
            <a:r>
              <a:rPr lang="pt-BR" b="1" dirty="0">
                <a:solidFill>
                  <a:schemeClr val="dk1"/>
                </a:solidFill>
              </a:rPr>
              <a:t>: Perceba que o produto dos imaginários  </a:t>
            </a:r>
            <a:r>
              <a:rPr lang="pt-BR" b="1" dirty="0" err="1">
                <a:solidFill>
                  <a:schemeClr val="dk1"/>
                </a:solidFill>
              </a:rPr>
              <a:t>i,j,k</a:t>
            </a:r>
            <a:r>
              <a:rPr lang="pt-BR" b="1" dirty="0">
                <a:solidFill>
                  <a:schemeClr val="dk1"/>
                </a:solidFill>
              </a:rPr>
              <a:t> se comporta como um produto vetorial.</a:t>
            </a:r>
            <a:endParaRPr sz="16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BEE0DD-119B-A18C-CD6A-7D5C85526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200" y="1414804"/>
            <a:ext cx="3351072" cy="4569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F7FE76-52DB-FDE6-7F81-B8FB17C79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200" y="2195445"/>
            <a:ext cx="4439082" cy="15480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274890-87ED-A24F-6540-EC5718B7E5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200" y="4109219"/>
            <a:ext cx="1407160" cy="41344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 base canônica dos quatérnios</a:t>
            </a:r>
            <a:endParaRPr dirty="0"/>
          </a:p>
        </p:txBody>
      </p:sp>
      <p:sp>
        <p:nvSpPr>
          <p:cNvPr id="364" name="Google Shape;364;p39"/>
          <p:cNvSpPr txBox="1">
            <a:spLocks noGrp="1"/>
          </p:cNvSpPr>
          <p:nvPr>
            <p:ph type="body" idx="1"/>
          </p:nvPr>
        </p:nvSpPr>
        <p:spPr>
          <a:xfrm>
            <a:off x="357900" y="1154702"/>
            <a:ext cx="8428200" cy="3405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2200" dirty="0"/>
              <a:t>O conjunto {1, i, j, k} forma uma base dos quatérnios, pois todo quatérnio pode ser escrito como uma combinação linear desses elementos.</a:t>
            </a:r>
            <a:endParaRPr sz="22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2200" dirty="0"/>
              <a:t>Note que se trata de uma </a:t>
            </a:r>
            <a:r>
              <a:rPr lang="pt-BR" sz="2200" b="1" dirty="0"/>
              <a:t>base ortonormal</a:t>
            </a:r>
            <a:r>
              <a:rPr lang="pt-BR" sz="2200" dirty="0"/>
              <a:t>.</a:t>
            </a:r>
            <a:endParaRPr sz="22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2200" dirty="0"/>
              <a:t>Lembre-se que os vetores de uma base ortonormal são dois a dois ortogonais e têm comprimento unitário.</a:t>
            </a:r>
            <a:endParaRPr sz="2200" dirty="0"/>
          </a:p>
        </p:txBody>
      </p:sp>
      <p:sp>
        <p:nvSpPr>
          <p:cNvPr id="365" name="Google Shape;365;p3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Como representar quatérnios</a:t>
            </a:r>
            <a:endParaRPr dirty="0"/>
          </a:p>
        </p:txBody>
      </p:sp>
      <p:sp>
        <p:nvSpPr>
          <p:cNvPr id="372" name="Google Shape;372;p40"/>
          <p:cNvSpPr txBox="1">
            <a:spLocks noGrp="1"/>
          </p:cNvSpPr>
          <p:nvPr>
            <p:ph type="body" idx="1"/>
          </p:nvPr>
        </p:nvSpPr>
        <p:spPr>
          <a:xfrm>
            <a:off x="357900" y="2857501"/>
            <a:ext cx="8428200" cy="164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2300"/>
              <a:t>Definição:</a:t>
            </a:r>
            <a:endParaRPr sz="23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2300"/>
              <a:t>Para um quatérnio </a:t>
            </a:r>
            <a:r>
              <a:rPr lang="pt-BR" sz="2300" i="1"/>
              <a:t>q</a:t>
            </a:r>
            <a:r>
              <a:rPr lang="pt-BR" sz="2300" baseline="-25000"/>
              <a:t>r</a:t>
            </a:r>
            <a:r>
              <a:rPr lang="pt-BR" sz="2300"/>
              <a:t> + </a:t>
            </a:r>
            <a:r>
              <a:rPr lang="pt-BR" sz="2300" b="1"/>
              <a:t>q</a:t>
            </a:r>
            <a:r>
              <a:rPr lang="pt-BR" sz="2300"/>
              <a:t>, dizemos que </a:t>
            </a:r>
            <a:r>
              <a:rPr lang="pt-BR" sz="2300" i="1"/>
              <a:t>q</a:t>
            </a:r>
            <a:r>
              <a:rPr lang="pt-BR" sz="2300" baseline="-25000"/>
              <a:t>r</a:t>
            </a:r>
            <a:r>
              <a:rPr lang="pt-BR" sz="2300"/>
              <a:t> é a parte escalar e </a:t>
            </a:r>
            <a:r>
              <a:rPr lang="pt-BR" sz="2300" b="1"/>
              <a:t>q</a:t>
            </a:r>
            <a:r>
              <a:rPr lang="pt-BR" sz="2300"/>
              <a:t> é a parte vetorial.</a:t>
            </a:r>
            <a:endParaRPr sz="2300"/>
          </a:p>
        </p:txBody>
      </p:sp>
      <p:sp>
        <p:nvSpPr>
          <p:cNvPr id="373" name="Google Shape;373;p4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31</a:t>
            </a:fld>
            <a:endParaRPr/>
          </a:p>
        </p:txBody>
      </p:sp>
      <p:pic>
        <p:nvPicPr>
          <p:cNvPr id="374" name="Google Shape;374;p40" descr="{&quot;backgroundColor&quot;:&quot;#FFFFFF&quot;,&quot;font&quot;:{&quot;family&quot;:&quot;Arial&quot;,&quot;size&quot;:27.5,&quot;color&quot;:&quot;#000000&quot;},&quot;id&quot;:&quot;2&quot;,&quot;aid&quot;:null,&quot;code&quot;:&quot;\\begin{lalign*}\n&amp;{q\\,=\\,q_{r}\\,+q_{i}i\\,+q_{j}j\\,+\\,q_{k}k}\\\\\n&amp;{q\\,=\\,\\left(q_{r},\\,q_{i},\\,q_{j},\\,q_{k}\\right)}\\\\\n&amp;{q\\,=\\,q_{r}\\,+\\mathbf{q}}\t\n\\end{lalign*}&quot;,&quot;type&quot;:&quot;lalign*&quot;,&quot;backgroundColorModified&quot;:false,&quot;ts&quot;:1630338350166,&quot;cs&quot;:&quot;zRGo1M8j2bm40g1tezReaA==&quot;,&quot;size&quot;:{&quot;width&quot;:469,&quot;height&quot;:154.33333333333334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2276" y="978850"/>
            <a:ext cx="4467225" cy="147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rrow-small-left icon font - Free arrow-small-left icon fonts">
            <a:extLst>
              <a:ext uri="{FF2B5EF4-FFF2-40B4-BE49-F238E27FC236}">
                <a16:creationId xmlns:a16="http://schemas.microsoft.com/office/drawing/2014/main" id="{ACDE58B4-EDBC-3E6D-7E56-14CCEB475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994140" y="3272819"/>
            <a:ext cx="223597" cy="142439"/>
          </a:xfrm>
          <a:prstGeom prst="rect">
            <a:avLst/>
          </a:prstGeom>
        </p:spPr>
      </p:pic>
      <p:pic>
        <p:nvPicPr>
          <p:cNvPr id="6" name="Picture 5" descr="Arrow-small-left icon font - Free arrow-small-left icon fonts">
            <a:extLst>
              <a:ext uri="{FF2B5EF4-FFF2-40B4-BE49-F238E27FC236}">
                <a16:creationId xmlns:a16="http://schemas.microsoft.com/office/drawing/2014/main" id="{31BA7DDA-0A2C-0E28-D467-9A365CBDA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2909515" y="2050106"/>
            <a:ext cx="223597" cy="142439"/>
          </a:xfrm>
          <a:prstGeom prst="rect">
            <a:avLst/>
          </a:prstGeom>
        </p:spPr>
      </p:pic>
      <p:pic>
        <p:nvPicPr>
          <p:cNvPr id="7" name="Picture 6" descr="Arrow-small-left icon font - Free arrow-small-left icon fonts">
            <a:extLst>
              <a:ext uri="{FF2B5EF4-FFF2-40B4-BE49-F238E27FC236}">
                <a16:creationId xmlns:a16="http://schemas.microsoft.com/office/drawing/2014/main" id="{16826EDA-3D5B-271F-A5E6-ABEBCC5FA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872487" y="3670599"/>
            <a:ext cx="223597" cy="14243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1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Multiplicação de Quatérnios</a:t>
            </a:r>
            <a:endParaRPr dirty="0"/>
          </a:p>
        </p:txBody>
      </p:sp>
      <p:sp>
        <p:nvSpPr>
          <p:cNvPr id="381" name="Google Shape;381;p41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Podemos representar o produto de quatérnios de diversas formas: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Uma forma de representar o produto de quatérnios é usando a representação de produtos escalares e produtos vetoriais: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1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32</a:t>
            </a:fld>
            <a:endParaRPr/>
          </a:p>
        </p:txBody>
      </p:sp>
      <p:pic>
        <p:nvPicPr>
          <p:cNvPr id="383" name="Google Shape;383;p41" descr="{&quot;backgroundColor&quot;:&quot;#FFFFFF&quot;,&quot;id&quot;:&quot;7&quot;,&quot;font&quot;:{&quot;color&quot;:&quot;#000000&quot;,&quot;family&quot;:&quot;Arial&quot;,&quot;size&quot;:12},&quot;backgroundColorModified&quot;:null,&quot;aid&quot;:null,&quot;type&quot;:&quot;align*&quot;,&quot;code&quot;:&quot;\\begin{align*}\n{\\text{pq}}&amp;={\\left(p_{r}\\,+p_{i}i\\,+p_{j}j\\,+\\,p_{k}k\\right)\\left(q_{r}\\,+q_{i}i\\,+q_{j}j\\,+\\,q_{k}k\\right)\\,}\\\\\n{\\,}&amp;={\\left(p_{r}q_{r}-p_{i}q_{i}\\,-p_{j}q_{j}\\,-p_{k}q_{k}\\right)+\\left(...\\right)i+\\left(...\\right)j+\\left(...\\right)k}\t\n\\end{align*}&quot;,&quot;ts&quot;:1630349284574,&quot;cs&quot;:&quot;B9G4n932O2k+UWIEZVVMtw==&quot;,&quot;size&quot;:{&quot;width&quot;:470.3333333333333,&quot;height&quot;:45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900" y="1777075"/>
            <a:ext cx="8343850" cy="798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1" descr="{&quot;id&quot;:&quot;7&quot;,&quot;aid&quot;:null,&quot;backgroundColor&quot;:&quot;#FFFFFF&quot;,&quot;code&quot;:&quot;\\begin{align*}\n{\\text{pq}}&amp;={p_{r}q_{r}-\\mathbf{p\\cdot q}\\,+p_{r}\\mathbf{q}\\,-q_{r}\\mathbf{p}+\\mathbf{p\\times q}}\t\n\\end{align*}&quot;,&quot;type&quot;:&quot;align*&quot;,&quot;font&quot;:{&quot;color&quot;:&quot;#000000&quot;,&quot;family&quot;:&quot;Arial&quot;,&quot;size&quot;:22},&quot;backgroundColorModified&quot;:false,&quot;ts&quot;:1630349497488,&quot;cs&quot;:&quot;q3YV6NuifsvAZL8Mu7VrhA==&quot;,&quot;size&quot;:{&quot;width&quot;:574.5,&quot;height&quot;:27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900" y="4368599"/>
            <a:ext cx="6472713" cy="30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rrow-small-left icon font - Free arrow-small-left icon fonts">
            <a:extLst>
              <a:ext uri="{FF2B5EF4-FFF2-40B4-BE49-F238E27FC236}">
                <a16:creationId xmlns:a16="http://schemas.microsoft.com/office/drawing/2014/main" id="{8F6ED0AE-79B4-CB46-07B5-A9E33CC777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2508407" y="4256557"/>
            <a:ext cx="307417" cy="195779"/>
          </a:xfrm>
          <a:prstGeom prst="rect">
            <a:avLst/>
          </a:prstGeom>
        </p:spPr>
      </p:pic>
      <p:pic>
        <p:nvPicPr>
          <p:cNvPr id="4" name="Picture 3" descr="Arrow-small-left icon font - Free arrow-small-left icon fonts">
            <a:extLst>
              <a:ext uri="{FF2B5EF4-FFF2-40B4-BE49-F238E27FC236}">
                <a16:creationId xmlns:a16="http://schemas.microsoft.com/office/drawing/2014/main" id="{C70C86E9-D741-9E92-C441-E46F23647C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3042107" y="4256556"/>
            <a:ext cx="307417" cy="195779"/>
          </a:xfrm>
          <a:prstGeom prst="rect">
            <a:avLst/>
          </a:prstGeom>
        </p:spPr>
      </p:pic>
      <p:pic>
        <p:nvPicPr>
          <p:cNvPr id="5" name="Picture 4" descr="Arrow-small-left icon font - Free arrow-small-left icon fonts">
            <a:extLst>
              <a:ext uri="{FF2B5EF4-FFF2-40B4-BE49-F238E27FC236}">
                <a16:creationId xmlns:a16="http://schemas.microsoft.com/office/drawing/2014/main" id="{B73B8D70-52A3-DE12-6E9B-0A4A465E99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4146126" y="4256556"/>
            <a:ext cx="307417" cy="195779"/>
          </a:xfrm>
          <a:prstGeom prst="rect">
            <a:avLst/>
          </a:prstGeom>
        </p:spPr>
      </p:pic>
      <p:pic>
        <p:nvPicPr>
          <p:cNvPr id="6" name="Picture 5" descr="Arrow-small-left icon font - Free arrow-small-left icon fonts">
            <a:extLst>
              <a:ext uri="{FF2B5EF4-FFF2-40B4-BE49-F238E27FC236}">
                <a16:creationId xmlns:a16="http://schemas.microsoft.com/office/drawing/2014/main" id="{8DAB31D9-11BF-7757-B844-9AE2D5EBF3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236789" y="4256556"/>
            <a:ext cx="307417" cy="195779"/>
          </a:xfrm>
          <a:prstGeom prst="rect">
            <a:avLst/>
          </a:prstGeom>
        </p:spPr>
      </p:pic>
      <p:pic>
        <p:nvPicPr>
          <p:cNvPr id="7" name="Picture 6" descr="Arrow-small-left icon font - Free arrow-small-left icon fonts">
            <a:extLst>
              <a:ext uri="{FF2B5EF4-FFF2-40B4-BE49-F238E27FC236}">
                <a16:creationId xmlns:a16="http://schemas.microsoft.com/office/drawing/2014/main" id="{8AA26C0C-82BC-2FEA-901A-0997E2F706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961385" y="4256555"/>
            <a:ext cx="307417" cy="195779"/>
          </a:xfrm>
          <a:prstGeom prst="rect">
            <a:avLst/>
          </a:prstGeom>
        </p:spPr>
      </p:pic>
      <p:pic>
        <p:nvPicPr>
          <p:cNvPr id="8" name="Picture 7" descr="Arrow-small-left icon font - Free arrow-small-left icon fonts">
            <a:extLst>
              <a:ext uri="{FF2B5EF4-FFF2-40B4-BE49-F238E27FC236}">
                <a16:creationId xmlns:a16="http://schemas.microsoft.com/office/drawing/2014/main" id="{5D259BB7-6BD5-6240-D1B6-9724248420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6695905" y="4256555"/>
            <a:ext cx="307417" cy="19577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Quatérnios</a:t>
            </a:r>
            <a:endParaRPr/>
          </a:p>
        </p:txBody>
      </p:sp>
      <p:sp>
        <p:nvSpPr>
          <p:cNvPr id="391" name="Google Shape;391;p42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Operações não são comutativas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lang="en-BR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4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Porém manipulações usuais são válidas</a:t>
            </a:r>
            <a:endParaRPr dirty="0"/>
          </a:p>
        </p:txBody>
      </p:sp>
      <p:sp>
        <p:nvSpPr>
          <p:cNvPr id="392" name="Google Shape;392;p4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33</a:t>
            </a:fld>
            <a:endParaRPr/>
          </a:p>
        </p:txBody>
      </p:sp>
      <p:sp>
        <p:nvSpPr>
          <p:cNvPr id="393" name="Google Shape;393;p42"/>
          <p:cNvSpPr txBox="1"/>
          <p:nvPr/>
        </p:nvSpPr>
        <p:spPr>
          <a:xfrm>
            <a:off x="928075" y="114948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≠ 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lang="en-US"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4" name="Google Shape;394;p42"/>
          <p:cNvSpPr txBox="1"/>
          <p:nvPr/>
        </p:nvSpPr>
        <p:spPr>
          <a:xfrm>
            <a:off x="928075" y="2366035"/>
            <a:ext cx="6513600" cy="3262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lang="en-US"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3000" baseline="-25000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3000" baseline="-25000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 dirty="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λ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pt-BR" sz="3000" dirty="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λ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pt-BR" sz="3000" dirty="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λ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pt-BR" sz="3000" dirty="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λ é escalar)</a:t>
            </a:r>
            <a:endParaRPr sz="3000" dirty="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 dirty="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(λ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pt-BR" sz="3000" dirty="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λ(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pt-BR" sz="3000" dirty="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λ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pt-BR" sz="3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pt-BR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(</a:t>
            </a:r>
            <a:r>
              <a:rPr lang="pt-BR" sz="3000" dirty="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λ é escalar)</a:t>
            </a:r>
            <a:endParaRPr sz="3000" dirty="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Conjugado</a:t>
            </a:r>
            <a:endParaRPr/>
          </a:p>
        </p:txBody>
      </p:sp>
      <p:sp>
        <p:nvSpPr>
          <p:cNvPr id="411" name="Google Shape;411;p44"/>
          <p:cNvSpPr txBox="1">
            <a:spLocks noGrp="1"/>
          </p:cNvSpPr>
          <p:nvPr>
            <p:ph type="body" idx="1"/>
          </p:nvPr>
        </p:nvSpPr>
        <p:spPr>
          <a:xfrm>
            <a:off x="390550" y="838975"/>
            <a:ext cx="7598700" cy="449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Conjugado de um quatérnio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Assim: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Módulo:</a:t>
            </a:r>
            <a:endParaRPr dirty="0"/>
          </a:p>
        </p:txBody>
      </p:sp>
      <p:sp>
        <p:nvSpPr>
          <p:cNvPr id="412" name="Google Shape;412;p44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34</a:t>
            </a:fld>
            <a:endParaRPr/>
          </a:p>
        </p:txBody>
      </p:sp>
      <p:pic>
        <p:nvPicPr>
          <p:cNvPr id="413" name="Google Shape;413;p44" descr="{&quot;id&quot;:&quot;3&quot;,&quot;backgroundColorModified&quot;:false,&quot;type&quot;:&quot;lalign*&quot;,&quot;backgroundColor&quot;:&quot;#FFFFFF&quot;,&quot;aid&quot;:null,&quot;code&quot;:&quot;\\begin{lalign*}\n&amp;{q\\,\\bar{q}=\\,\\left(q_{r}\\,+\\mathbf{q}\\right)\\left(q_{r}\\,-\\mathbf{q}\\right)}\\\\\n&amp;{q\\,\\bar{q}=\\,q_{r}^{2}+q_{r}\\mathbf{q}-q_{r}\\mathbf{q}-\\mathbf{qq}}\\\\\n&amp;{q\\,\\bar{q}=\\,q_{r}^{2}+\\mathbf{q\\cdot}\\mathbf{q}-\\mathbf{q\\times q}}\\\\\n&amp;{q\\,\\bar{q}=\\,q_{r}^{2}+q_{i}^{2}+q_{j}^{2}+q_{k}^{2}}\t\n\\end{lalign*}&quot;,&quot;font&quot;:{&quot;color&quot;:&quot;#000000&quot;,&quot;family&quot;:&quot;Arial&quot;,&quot;size&quot;:24},&quot;ts&quot;:1630338717778,&quot;cs&quot;:&quot;WL45wGd4CqG2fuimGk5rTw==&quot;,&quot;size&quot;:{&quot;width&quot;:425,&quot;height&quot;:205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880" y="2151834"/>
            <a:ext cx="4048125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44" descr="{&quot;font&quot;:{&quot;color&quot;:&quot;#000000&quot;,&quot;size&quot;:24,&quot;family&quot;:&quot;Arial&quot;},&quot;type&quot;:&quot;lalign*&quot;,&quot;backgroundColorModified&quot;:false,&quot;id&quot;:&quot;3&quot;,&quot;code&quot;:&quot;\\begin{lalign*}\n&amp;{\\left|q\\right|={\\sqrt[]{q\\,\\bar{q}}}=\\,{\\sqrt[]{q_{i}^{2}+q_{j}^{2}+q_{k}^{2}+q_{r}^{2}}}}\t\n\\end{lalign*}&quot;,&quot;backgroundColor&quot;:&quot;#FFFFFF&quot;,&quot;aid&quot;:null,&quot;ts&quot;:1630338747118,&quot;cs&quot;:&quot;WY0jjogGVvEJxkUqQBMgUg==&quot;,&quot;size&quot;:{&quot;width&quot;:537.5,&quot;height&quot;:68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075" y="4640029"/>
            <a:ext cx="5119688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4" descr="{&quot;backgroundColorModified&quot;:false,&quot;id&quot;:&quot;6&quot;,&quot;aid&quot;:null,&quot;type&quot;:&quot;lalign*&quot;,&quot;backgroundColor&quot;:&quot;#FFFFFF&quot;,&quot;code&quot;:&quot;\\begin{lalign*}\n&amp;{q\\,=\\,q_{r}\\,-q_{i}i\\,-q_{j}j\\,-\\,q_{k}k}\\\\\n\\end{lalign*}&quot;,&quot;font&quot;:{&quot;size&quot;:25,&quot;color&quot;:&quot;#000000&quot;,&quot;family&quot;:&quot;Arial&quot;},&quot;ts&quot;:1630338615748,&quot;cs&quot;:&quot;4XmRqbHzFlrtuT0bEhY2Bg==&quot;,&quot;size&quot;:{&quot;width&quot;:426,&quot;height&quot;:38.666666666666664}}"/>
          <p:cNvPicPr preferRelativeResize="0"/>
          <p:nvPr/>
        </p:nvPicPr>
        <p:blipFill>
          <a:blip r:embed="rId5">
            <a:alphaModFix/>
          </a:blip>
          <a:srcRect l="6956" t="1026" r="190" b="6792"/>
          <a:stretch/>
        </p:blipFill>
        <p:spPr>
          <a:xfrm>
            <a:off x="1068089" y="1280925"/>
            <a:ext cx="3767683" cy="339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F0AB176C-00D5-5FFA-7367-FB87A63309F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6304" b="5814"/>
          <a:stretch/>
        </p:blipFill>
        <p:spPr>
          <a:xfrm>
            <a:off x="784895" y="1281266"/>
            <a:ext cx="229503" cy="3212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12ABC2-D1A0-D15B-69A9-9B4066E25A90}"/>
              </a:ext>
            </a:extLst>
          </p:cNvPr>
          <p:cNvSpPr txBox="1"/>
          <p:nvPr/>
        </p:nvSpPr>
        <p:spPr>
          <a:xfrm>
            <a:off x="5718874" y="1280925"/>
            <a:ext cx="324013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800" dirty="0"/>
              <a:t>Um </a:t>
            </a:r>
            <a:r>
              <a:rPr lang="pt-BR" sz="1800" b="1" dirty="0"/>
              <a:t>conjugado </a:t>
            </a:r>
            <a:r>
              <a:rPr lang="pt-BR" sz="1800" dirty="0"/>
              <a:t>é definido por </a:t>
            </a:r>
            <a:r>
              <a:rPr lang="pt-BR" sz="1800" b="1" dirty="0"/>
              <a:t>mantemos a parte real e trocamos o sinal da parte imaginária</a:t>
            </a:r>
            <a:r>
              <a:rPr lang="pt-BR" sz="1800" dirty="0"/>
              <a:t>.</a:t>
            </a:r>
          </a:p>
          <a:p>
            <a:pPr>
              <a:buNone/>
            </a:pPr>
            <a:endParaRPr lang="pt-BR" sz="1800" dirty="0"/>
          </a:p>
          <a:p>
            <a:pPr>
              <a:buNone/>
            </a:pPr>
            <a:r>
              <a:rPr lang="pt-BR" sz="1800" dirty="0"/>
              <a:t>A interpretação como reflexão em relação ao eixo real é a analogia do caso complexo. Nos quatérnios, o conjugado inverte a parte vetorial.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Propriedades algébricas dos quatérnios</a:t>
            </a:r>
            <a:endParaRPr/>
          </a:p>
        </p:txBody>
      </p:sp>
      <p:sp>
        <p:nvSpPr>
          <p:cNvPr id="422" name="Google Shape;422;p45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Inverso de um quatérnio: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Quatérnio unitário:                   </a:t>
            </a:r>
            <a:r>
              <a:rPr lang="pt-BR" sz="1200" dirty="0"/>
              <a:t>  (é esse que usamos para rotações)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Inverso de um quatérnio unitário: </a:t>
            </a:r>
            <a:endParaRPr dirty="0"/>
          </a:p>
        </p:txBody>
      </p:sp>
      <p:sp>
        <p:nvSpPr>
          <p:cNvPr id="423" name="Google Shape;423;p45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35</a:t>
            </a:fld>
            <a:endParaRPr/>
          </a:p>
        </p:txBody>
      </p:sp>
      <p:pic>
        <p:nvPicPr>
          <p:cNvPr id="424" name="Google Shape;424;p45" descr="{&quot;id&quot;:&quot;3&quot;,&quot;code&quot;:&quot;\\begin{lalign*}\n&amp;{q^{-1}=\\frac{\\bar{q}}{\\left|q\\right|^{2}}}\\\\\n\\end{lalign*}&quot;,&quot;aid&quot;:null,&quot;type&quot;:&quot;lalign*&quot;,&quot;backgroundColorModified&quot;:false,&quot;backgroundColor&quot;:&quot;#FFFFFF&quot;,&quot;font&quot;:{&quot;color&quot;:&quot;#000000&quot;,&quot;family&quot;:&quot;Arial&quot;,&quot;size&quot;:24},&quot;ts&quot;:1630191113997,&quot;cs&quot;:&quot;mhcsXUzzVrc9d6GE6WMV5A==&quot;,&quot;size&quot;:{&quot;width&quot;:169.33333333333334,&quot;height&quot;:89.33333333333333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217" y="1004859"/>
            <a:ext cx="1612900" cy="85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45" descr="{&quot;id&quot;:&quot;3&quot;,&quot;code&quot;:&quot;\\begin{lalign*}\n&amp;{\\left|q\\right|=1}\\\\\n\\end{lalign*}&quot;,&quot;aid&quot;:null,&quot;type&quot;:&quot;lalign*&quot;,&quot;backgroundColorModified&quot;:false,&quot;backgroundColor&quot;:&quot;#FFFFFF&quot;,&quot;font&quot;:{&quot;color&quot;:&quot;#000000&quot;,&quot;size&quot;:24,&quot;family&quot;:&quot;Arial&quot;},&quot;ts&quot;:1630191154336,&quot;cs&quot;:&quot;HIFtIdpK9k00/Fq+Nq2Deg==&quot;,&quot;size&quot;:{&quot;width&quot;:100,&quot;height&quot;:38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1492" y="2345198"/>
            <a:ext cx="9525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5" descr="{&quot;id&quot;:&quot;3&quot;,&quot;type&quot;:&quot;lalign*&quot;,&quot;backgroundColorModified&quot;:false,&quot;aid&quot;:null,&quot;code&quot;:&quot;\\begin{lalign*}\n&amp;{q^{-1}=\\bar{q}}\\\\\n\\end{lalign*}&quot;,&quot;backgroundColor&quot;:&quot;#FFFFFF&quot;,&quot;font&quot;:{&quot;color&quot;:&quot;#000000&quot;,&quot;family&quot;:&quot;Arial&quot;,&quot;size&quot;:24},&quot;ts&quot;:1630191197945,&quot;cs&quot;:&quot;e+jV9sFVIDvMI2eJy9XbrQ==&quot;,&quot;size&quot;:{&quot;width&quot;:123.33333333333331,&quot;height&quot;:40.5}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0917" y="3315188"/>
            <a:ext cx="1174750" cy="385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Quatérnios e Rotações</a:t>
            </a:r>
            <a:endParaRPr/>
          </a:p>
        </p:txBody>
      </p:sp>
      <p:sp>
        <p:nvSpPr>
          <p:cNvPr id="433" name="Google Shape;433;p46"/>
          <p:cNvSpPr txBox="1">
            <a:spLocks noGrp="1"/>
          </p:cNvSpPr>
          <p:nvPr>
            <p:ph type="body" idx="1"/>
          </p:nvPr>
        </p:nvSpPr>
        <p:spPr>
          <a:xfrm>
            <a:off x="390550" y="838984"/>
            <a:ext cx="8428200" cy="6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Rotações são representadas por quatérnios unitários</a:t>
            </a:r>
            <a:endParaRPr/>
          </a:p>
        </p:txBody>
      </p:sp>
      <p:sp>
        <p:nvSpPr>
          <p:cNvPr id="434" name="Google Shape;434;p46"/>
          <p:cNvSpPr txBox="1"/>
          <p:nvPr/>
        </p:nvSpPr>
        <p:spPr>
          <a:xfrm>
            <a:off x="4112775" y="5378175"/>
            <a:ext cx="4281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494949"/>
                </a:solidFill>
                <a:highlight>
                  <a:srgbClr val="F7F8FA"/>
                </a:highlight>
              </a:rPr>
              <a:t>Lessons by </a:t>
            </a:r>
            <a:r>
              <a:rPr lang="pt-BR" sz="900">
                <a:solidFill>
                  <a:schemeClr val="hlink"/>
                </a:solidFill>
                <a:highlight>
                  <a:srgbClr val="F7F8FA"/>
                </a:highlight>
                <a:uFill>
                  <a:noFill/>
                </a:uFill>
                <a:hlinkClick r:id="rId3"/>
              </a:rPr>
              <a:t>Grant Sanderson</a:t>
            </a:r>
            <a:r>
              <a:rPr lang="pt-BR" sz="900">
                <a:solidFill>
                  <a:srgbClr val="494949"/>
                </a:solidFill>
                <a:highlight>
                  <a:srgbClr val="F7F8FA"/>
                </a:highlight>
              </a:rPr>
              <a:t>       Technology by </a:t>
            </a:r>
            <a:r>
              <a:rPr lang="pt-BR" sz="900">
                <a:solidFill>
                  <a:schemeClr val="hlink"/>
                </a:solidFill>
                <a:highlight>
                  <a:srgbClr val="F7F8FA"/>
                </a:highlight>
                <a:uFill>
                  <a:noFill/>
                </a:uFill>
                <a:hlinkClick r:id="rId4"/>
              </a:rPr>
              <a:t>Ben Eater</a:t>
            </a:r>
            <a:endParaRPr sz="1100"/>
          </a:p>
        </p:txBody>
      </p:sp>
      <p:sp>
        <p:nvSpPr>
          <p:cNvPr id="435" name="Google Shape;435;p46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36</a:t>
            </a:fld>
            <a:endParaRPr/>
          </a:p>
        </p:txBody>
      </p:sp>
      <p:pic>
        <p:nvPicPr>
          <p:cNvPr id="436" name="Google Shape;436;p46" descr="{&quot;type&quot;:&quot;lalign*&quot;,&quot;id&quot;:&quot;2&quot;,&quot;backgroundColorModified&quot;:false,&quot;aid&quot;:null,&quot;code&quot;:&quot;\\begin{lalign*}\n&amp;{q\\,=\\,q_{r}\\,+q_{i}i\\,+q_{j}j\\,+\\,q_{k}k}\\\\\n&amp;{q_{i}^{2}+q_{j}^{2}+q_{k}^{2}+q_{r}^{2}=1}\\\\\n\\end{lalign*}&quot;,&quot;backgroundColor&quot;:&quot;#FFFFFF&quot;,&quot;font&quot;:{&quot;size&quot;:25,&quot;color&quot;:&quot;#000000&quot;,&quot;family&quot;:&quot;Arial&quot;},&quot;ts&quot;:1630338834592,&quot;cs&quot;:&quot;GRr89uD47QQwIeK27LAnrA==&quot;,&quot;size&quot;:{&quot;width&quot;:426,&quot;height&quot;:100}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549" y="1893900"/>
            <a:ext cx="40576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5475" y="1325775"/>
            <a:ext cx="4226427" cy="2241151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46"/>
          <p:cNvSpPr txBox="1">
            <a:spLocks noGrp="1"/>
          </p:cNvSpPr>
          <p:nvPr>
            <p:ph type="body" idx="1"/>
          </p:nvPr>
        </p:nvSpPr>
        <p:spPr>
          <a:xfrm>
            <a:off x="357900" y="3725632"/>
            <a:ext cx="8574002" cy="155756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pt-BR" sz="1700" dirty="0"/>
              <a:t>Quatérnios unitários vivem em uma superfície esférica unitária no R</a:t>
            </a:r>
            <a:r>
              <a:rPr lang="pt-BR" sz="1700" baseline="30000" dirty="0"/>
              <a:t>4</a:t>
            </a:r>
            <a:endParaRPr sz="1700" baseline="30000" dirty="0"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pt-BR" sz="1700" dirty="0"/>
              <a:t>Os quatérnios </a:t>
            </a:r>
            <a:r>
              <a:rPr lang="pt-BR" sz="1700" dirty="0" err="1"/>
              <a:t>q</a:t>
            </a:r>
            <a:r>
              <a:rPr lang="pt-BR" sz="1700" dirty="0"/>
              <a:t> e -</a:t>
            </a:r>
            <a:r>
              <a:rPr lang="pt-BR" sz="1700" dirty="0" err="1"/>
              <a:t>q</a:t>
            </a:r>
            <a:r>
              <a:rPr lang="pt-BR" sz="1700" dirty="0"/>
              <a:t> representam a mesma rotação</a:t>
            </a:r>
            <a:endParaRPr sz="1700" dirty="0"/>
          </a:p>
          <a:p>
            <a:pPr lvl="0" indent="-355600">
              <a:spcBef>
                <a:spcPts val="1000"/>
              </a:spcBef>
              <a:spcAft>
                <a:spcPts val="1000"/>
              </a:spcAft>
              <a:buChar char="●"/>
            </a:pPr>
            <a:r>
              <a:rPr lang="pt-BR" sz="1700" dirty="0"/>
              <a:t>A identidade (rotação nula) é representada pelos quatérnios 1 e −1.</a:t>
            </a:r>
            <a:endParaRPr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Rotação de Quatérnios unitários</a:t>
            </a:r>
            <a:endParaRPr/>
          </a:p>
        </p:txBody>
      </p:sp>
      <p:sp>
        <p:nvSpPr>
          <p:cNvPr id="445" name="Google Shape;445;p47"/>
          <p:cNvSpPr txBox="1">
            <a:spLocks noGrp="1"/>
          </p:cNvSpPr>
          <p:nvPr>
            <p:ph type="body" idx="1"/>
          </p:nvPr>
        </p:nvSpPr>
        <p:spPr>
          <a:xfrm>
            <a:off x="326065" y="838975"/>
            <a:ext cx="8714985" cy="449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 dirty="0"/>
              <a:t>Uma rotação é definida por um eixo u (unitário) com uma rotação 𝜃. </a:t>
            </a:r>
            <a:endParaRPr sz="18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05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 dirty="0"/>
              <a:t>	</a:t>
            </a: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lang="pt-BR" sz="12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lang="pt-BR" sz="12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lang="pt-BR" sz="18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 dirty="0"/>
              <a:t>Um quatérnio terá a parte escalar igual a cosseno(𝜃/2) e sua parte imaginária (indicada por um ponto no espaço) como os eixos multiplicados pelo seno(𝜃/2) e os respectivos valores imaginários.</a:t>
            </a:r>
            <a:endParaRPr sz="1800" dirty="0"/>
          </a:p>
        </p:txBody>
      </p:sp>
      <p:sp>
        <p:nvSpPr>
          <p:cNvPr id="446" name="Google Shape;446;p47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37</a:t>
            </a:fld>
            <a:endParaRPr/>
          </a:p>
        </p:txBody>
      </p:sp>
      <p:pic>
        <p:nvPicPr>
          <p:cNvPr id="447" name="Google Shape;447;p47" descr="{&quot;backgroundColor&quot;:&quot;#FFFFFF&quot;,&quot;type&quot;:&quot;lalign*&quot;,&quot;backgroundColorModified&quot;:null,&quot;aid&quot;:null,&quot;code&quot;:&quot;\\begin{lalign*}\n&amp;{=\\,\\begin{bmatrix}\n{u_{x}}&amp;{u_{y}}&amp;{u_{z}}\\\\\n\\end{bmatrix}}\\\\\n&amp;{=\\,\\theta}\\\\\n\\end{lalign*}&quot;,&quot;font&quot;:{&quot;size&quot;:12,&quot;color&quot;:&quot;#000000&quot;,&quot;family&quot;:&quot;Arial&quot;},&quot;id&quot;:&quot;4&quot;,&quot;ts&quot;:1630328494849,&quot;cs&quot;:&quot;ZqrchTjShElNB55TrWVIjg==&quot;,&quot;size&quot;:{&quot;width&quot;:122.83333333333333,&quot;height&quot;:39.166666666666664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4121" y="1509640"/>
            <a:ext cx="1844151" cy="58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47" descr="{&quot;type&quot;:&quot;$$&quot;,&quot;id&quot;:&quot;5&quot;,&quot;backgroundColorModified&quot;:null,&quot;aid&quot;:null,&quot;font&quot;:{&quot;size&quot;:12,&quot;family&quot;:&quot;Arial&quot;,&quot;color&quot;:&quot;#000000&quot;},&quot;code&quot;:&quot;$$q\\,=\\,\\cos\\left(\\frac{\\theta}{2}\\right)+\\sin\\left(\\frac{\\theta}{2}\\right)u_{x}i+\\sin\\left(\\frac{\\theta}{2}\\right)u_{y}j+\\sin\\left(\\frac{\\theta}{2}\\right)u_{z}k$$&quot;,&quot;backgroundColor&quot;:&quot;#FFFFFF&quot;,&quot;ts&quot;:1630328781141,&quot;cs&quot;:&quot;6VheOl04Zf18kosaENuGrw==&quot;,&quot;size&quot;:{&quot;width&quot;:478.3333333333333,&quot;height&quot;:45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550" y="4305300"/>
            <a:ext cx="7730901" cy="72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94D9B4-DE1C-9075-9BA3-A1B1FC20BA26}"/>
              </a:ext>
            </a:extLst>
          </p:cNvPr>
          <p:cNvSpPr txBox="1"/>
          <p:nvPr/>
        </p:nvSpPr>
        <p:spPr>
          <a:xfrm>
            <a:off x="1531620" y="1486548"/>
            <a:ext cx="4587240" cy="63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 dirty="0"/>
              <a:t>eixo</a:t>
            </a: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 dirty="0"/>
              <a:t>ângulo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99606-D66D-1AE3-19CA-CCFBA99FE609}"/>
              </a:ext>
            </a:extLst>
          </p:cNvPr>
          <p:cNvSpPr txBox="1"/>
          <p:nvPr/>
        </p:nvSpPr>
        <p:spPr>
          <a:xfrm>
            <a:off x="1531620" y="2153034"/>
            <a:ext cx="1807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∥u∥        =  1</a:t>
            </a:r>
            <a:endParaRPr lang="pt-BR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Quatérnios Unitários e Rotações</a:t>
            </a:r>
            <a:endParaRPr/>
          </a:p>
        </p:txBody>
      </p:sp>
      <p:sp>
        <p:nvSpPr>
          <p:cNvPr id="455" name="Google Shape;455;p48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950"/>
              <a:t>Para trabalharmos com a rotação por quatérnios, precisamos deles normalizados:</a:t>
            </a:r>
            <a:endParaRPr sz="195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95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95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95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95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95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95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950"/>
              <a:t>Sua rotação pode ser realizada pela operação:</a:t>
            </a:r>
            <a:endParaRPr sz="1950"/>
          </a:p>
        </p:txBody>
      </p:sp>
      <p:sp>
        <p:nvSpPr>
          <p:cNvPr id="456" name="Google Shape;456;p4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38</a:t>
            </a:fld>
            <a:endParaRPr/>
          </a:p>
        </p:txBody>
      </p:sp>
      <p:pic>
        <p:nvPicPr>
          <p:cNvPr id="457" name="Google Shape;457;p48" descr="{&quot;aid&quot;:null,&quot;type&quot;:&quot;lalign*&quot;,&quot;id&quot;:&quot;2&quot;,&quot;font&quot;:{&quot;size&quot;:25,&quot;color&quot;:&quot;#000000&quot;,&quot;family&quot;:&quot;Arial&quot;},&quot;backgroundColorModified&quot;:false,&quot;code&quot;:&quot;\\begin{lalign*}\n&amp;{\\mathcal{rot}\\left(v\\right)\\,=\\,\\,q\\cdot v\\cdot q^{-1}}\\\\\n\\end{lalign*}&quot;,&quot;backgroundColor&quot;:&quot;#FFFFFF&quot;,&quot;ts&quot;:1630260188465,&quot;cs&quot;:&quot;hD5db5avc4MmnCjngnn2uw==&quot;,&quot;size&quot;:{&quot;width&quot;:318.24999999999994,&quot;height&quot;:44.5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951" y="4121063"/>
            <a:ext cx="3031331" cy="423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8" descr="{&quot;backgroundColor&quot;:&quot;#FFFFFF&quot;,&quot;code&quot;:&quot;\\begin{lalign*}\n&amp;{\\hat{q}\\,=\\,\\,\\frac{q_{r}\\,+q_{i}i\\,+q_{j}j\\,+\\,q_{k}k}{{\\sqrt[]{q_{r}^{2}+q_{i}^{2}+q_{j}^{2}+q_{k}^{2}}}}}\\\\\n\\end{lalign*}&quot;,&quot;id&quot;:&quot;6&quot;,&quot;backgroundColorModified&quot;:false,&quot;font&quot;:{&quot;color&quot;:&quot;#000000&quot;,&quot;size&quot;:25,&quot;family&quot;:&quot;Arial&quot;},&quot;type&quot;:&quot;lalign*&quot;,&quot;aid&quot;:null,&quot;ts&quot;:1630348017172,&quot;cs&quot;:&quot;69RGuvYIhaiE7ECC2/mglQ==&quot;,&quot;size&quot;:{&quot;width&quot;:450.6666666666667,&quot;height&quot;:128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2051" y="1857600"/>
            <a:ext cx="42926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0"/>
          <p:cNvSpPr txBox="1">
            <a:spLocks noGrp="1"/>
          </p:cNvSpPr>
          <p:nvPr>
            <p:ph type="body" idx="1"/>
          </p:nvPr>
        </p:nvSpPr>
        <p:spPr>
          <a:xfrm>
            <a:off x="390550" y="920833"/>
            <a:ext cx="8428200" cy="302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Na prática: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8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O que leva uma matriz de rotação:</a:t>
            </a:r>
            <a:endParaRPr dirty="0"/>
          </a:p>
        </p:txBody>
      </p:sp>
      <p:sp>
        <p:nvSpPr>
          <p:cNvPr id="475" name="Google Shape;475;p5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67"/>
              <a:t>Representação Quatérnios em Coord. Homogêneas</a:t>
            </a:r>
            <a:endParaRPr sz="2467"/>
          </a:p>
        </p:txBody>
      </p:sp>
      <p:sp>
        <p:nvSpPr>
          <p:cNvPr id="476" name="Google Shape;476;p5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39</a:t>
            </a:fld>
            <a:endParaRPr/>
          </a:p>
        </p:txBody>
      </p:sp>
      <p:sp>
        <p:nvSpPr>
          <p:cNvPr id="477" name="Google Shape;477;p50"/>
          <p:cNvSpPr txBox="1"/>
          <p:nvPr/>
        </p:nvSpPr>
        <p:spPr>
          <a:xfrm>
            <a:off x="431850" y="5125907"/>
            <a:ext cx="78927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/>
              <a:t>A definição acima armazena o quatérnio como uma matriz seguindo a convenção usada em (</a:t>
            </a:r>
            <a:r>
              <a:rPr lang="pt-BR" sz="1100" dirty="0" err="1"/>
              <a:t>Wertz</a:t>
            </a:r>
            <a:r>
              <a:rPr lang="pt-BR" sz="1100" dirty="0"/>
              <a:t> 1980) e (</a:t>
            </a:r>
            <a:r>
              <a:rPr lang="pt-BR" sz="1100" dirty="0" err="1"/>
              <a:t>Markley</a:t>
            </a:r>
            <a:r>
              <a:rPr lang="pt-BR" sz="1100" dirty="0"/>
              <a:t> 2003)*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/>
              <a:t>Convenção usada: vetor coluna, rotação ativa, sistema destro.</a:t>
            </a:r>
            <a:endParaRPr sz="1100" dirty="0"/>
          </a:p>
        </p:txBody>
      </p:sp>
      <p:pic>
        <p:nvPicPr>
          <p:cNvPr id="478" name="Google Shape;478;p50" descr="{&quot;type&quot;:&quot;lalign*&quot;,&quot;id&quot;:&quot;2&quot;,&quot;backgroundColor&quot;:&quot;#FFFFFF&quot;,&quot;code&quot;:&quot;\\begin{lalign*}\n&amp;{\\hat{q}\\,=\\,q_{i}i\\,+q_{j}j\\,+\\,q_{k}k+q_{r}=\\begin{bmatrix}\n{q_{i}}\\\\\n{q_{j}}\\\\\n{q_{k}}\\\\\n{q_{r}}\\\\\n\\end{bmatrix}=\\begin{bmatrix}\n{u_{x}\\sin\\frac{\\theta}{2}}\\\\\n{u_{y}\\sin\\frac{\\theta}{2}}\\\\\n{u_{z}\\sin\\frac{\\theta}{2}}\\\\\n{\\cos\\frac{\\theta}{2}}\\\\\n\\end{bmatrix}}\\\\\n\\end{lalign*}&quot;,&quot;font&quot;:{&quot;family&quot;:&quot;Arial&quot;,&quot;size&quot;:19,&quot;color&quot;:&quot;#000000&quot;},&quot;aid&quot;:null,&quot;backgroundColorModified&quot;:false,&quot;ts&quot;:1630610729828,&quot;cs&quot;:&quot;qVhKwVU7cLxp/JOZpG3j4A==&quot;,&quot;size&quot;:{&quot;width&quot;:598.4999999999999,&quot;height&quot;:183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1597" y="1025783"/>
            <a:ext cx="5700713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50" descr="{&quot;type&quot;:&quot;lalign*&quot;,&quot;code&quot;:&quot;\\begin{lalign*}\n&amp;{R=\\begin{bmatrix}\n{1-2\\left(q_{j}^{2}+q_{k}^{2}\\right)}&amp;{2\\left(q_{i}q_{j}-q_{k}q_{r}\\right)}&amp;{2\\left(q_{i}q_{k}+q_{j}q_{r}\\right)}&amp;{0}\\\\\n{2\\left(q_{i}q_{j}+q_{k}q_{r}\\right)}&amp;{1-2\\left(q_{i}^{2}+q_{k}^{2}\\right)}&amp;{2\\left(q_{j}q_{k}-q_{i}q_{r}\\right)}&amp;{0}\\\\\n{2\\left(q_{i}q_{k}-q_{j}q_{r}\\right)}&amp;{2\\left(q_{j}q_{k}+q_{i}q_{r}\\right)}&amp;{1-2\\left(q_{i}^{2}+q_{j}^{2}\\right)}&amp;{0}\\\\\n{0}&amp;{0}&amp;{0}&amp;{1}\\\\\n\\end{bmatrix}}\\\\\n\\end{lalign*}&quot;,&quot;id&quot;:&quot;2&quot;,&quot;backgroundColorModified&quot;:false,&quot;backgroundColor&quot;:&quot;#FFFFFF&quot;,&quot;aid&quot;:null,&quot;font&quot;:{&quot;family&quot;:&quot;Arial&quot;,&quot;size&quot;:16.5,&quot;color&quot;:&quot;#000000&quot;},&quot;ts&quot;:1630611445548,&quot;cs&quot;:&quot;6wphMPxhKdI2o1dmH1tPfA==&quot;,&quot;size&quot;:{&quot;width&quot;:663.5,&quot;height&quot;:181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2016" y="3364783"/>
            <a:ext cx="6319838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134299-C3CA-58F9-539C-8107084513E1}"/>
              </a:ext>
            </a:extLst>
          </p:cNvPr>
          <p:cNvSpPr txBox="1"/>
          <p:nvPr/>
        </p:nvSpPr>
        <p:spPr>
          <a:xfrm>
            <a:off x="7481996" y="2283748"/>
            <a:ext cx="1127364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100" dirty="0"/>
              <a:t>Transformação Linear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28E850-2B56-B6DD-F55E-F3B7A9002DF4}"/>
              </a:ext>
            </a:extLst>
          </p:cNvPr>
          <p:cNvSpPr/>
          <p:nvPr/>
        </p:nvSpPr>
        <p:spPr>
          <a:xfrm>
            <a:off x="2091059" y="3342791"/>
            <a:ext cx="5164278" cy="1428749"/>
          </a:xfrm>
          <a:prstGeom prst="rect">
            <a:avLst/>
          </a:prstGeom>
          <a:solidFill>
            <a:srgbClr val="9BBB59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EC9C563-96ED-78D4-2B14-DE843AA928BB}"/>
              </a:ext>
            </a:extLst>
          </p:cNvPr>
          <p:cNvCxnSpPr/>
          <p:nvPr/>
        </p:nvCxnSpPr>
        <p:spPr>
          <a:xfrm flipH="1">
            <a:off x="7017349" y="2523957"/>
            <a:ext cx="701437" cy="8251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5E07FCF-0ECA-5567-F3CA-278309BE9F3A}"/>
              </a:ext>
            </a:extLst>
          </p:cNvPr>
          <p:cNvSpPr txBox="1"/>
          <p:nvPr/>
        </p:nvSpPr>
        <p:spPr>
          <a:xfrm>
            <a:off x="7951110" y="2767439"/>
            <a:ext cx="1127364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100" dirty="0"/>
              <a:t>Transformação Homogênea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DBB3272-13EE-54E9-355F-F52E9C555316}"/>
              </a:ext>
            </a:extLst>
          </p:cNvPr>
          <p:cNvCxnSpPr>
            <a:cxnSpLocks/>
          </p:cNvCxnSpPr>
          <p:nvPr/>
        </p:nvCxnSpPr>
        <p:spPr>
          <a:xfrm flipH="1">
            <a:off x="7590710" y="3082062"/>
            <a:ext cx="418480" cy="2372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16DCD11-6F5A-B1FE-F2F0-59477A0DBE65}"/>
              </a:ext>
            </a:extLst>
          </p:cNvPr>
          <p:cNvSpPr/>
          <p:nvPr/>
        </p:nvSpPr>
        <p:spPr>
          <a:xfrm>
            <a:off x="7253196" y="3343806"/>
            <a:ext cx="417677" cy="1779038"/>
          </a:xfrm>
          <a:prstGeom prst="rect">
            <a:avLst/>
          </a:prstGeom>
          <a:solidFill>
            <a:srgbClr val="597BB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70FAA4-B5A4-CF44-D7D4-870C5AB3C1D2}"/>
              </a:ext>
            </a:extLst>
          </p:cNvPr>
          <p:cNvSpPr/>
          <p:nvPr/>
        </p:nvSpPr>
        <p:spPr>
          <a:xfrm>
            <a:off x="2090187" y="4772565"/>
            <a:ext cx="5164889" cy="353286"/>
          </a:xfrm>
          <a:prstGeom prst="rect">
            <a:avLst/>
          </a:prstGeom>
          <a:solidFill>
            <a:srgbClr val="597BB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5" grpId="0"/>
      <p:bldP spid="7" grpId="0" animBg="1"/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ATIVIDADE: Rotações por Quatérnios</a:t>
            </a:r>
            <a:endParaRPr dirty="0"/>
          </a:p>
        </p:txBody>
      </p:sp>
      <p:sp>
        <p:nvSpPr>
          <p:cNvPr id="370" name="Google Shape;370;p46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Acesse o documento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Realize todos os exercícios.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Voltamos em 30 minutos?</a:t>
            </a:r>
            <a:endParaRPr dirty="0"/>
          </a:p>
        </p:txBody>
      </p:sp>
      <p:sp>
        <p:nvSpPr>
          <p:cNvPr id="371" name="Google Shape;371;p46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13269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6"/>
          <p:cNvSpPr txBox="1">
            <a:spLocks noGrp="1"/>
          </p:cNvSpPr>
          <p:nvPr>
            <p:ph type="sldNum" idx="12"/>
          </p:nvPr>
        </p:nvSpPr>
        <p:spPr>
          <a:xfrm>
            <a:off x="6553200" y="5296959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41</a:t>
            </a:fld>
            <a:endParaRPr/>
          </a:p>
        </p:txBody>
      </p:sp>
      <p:sp>
        <p:nvSpPr>
          <p:cNvPr id="527" name="Google Shape;527;p56"/>
          <p:cNvSpPr txBox="1">
            <a:spLocks noGrp="1"/>
          </p:cNvSpPr>
          <p:nvPr>
            <p:ph type="body" idx="1"/>
          </p:nvPr>
        </p:nvSpPr>
        <p:spPr>
          <a:xfrm>
            <a:off x="955687" y="1402663"/>
            <a:ext cx="73437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</a:pPr>
            <a:r>
              <a:rPr lang="pt-BR"/>
              <a:t>Computação Gráfica</a:t>
            </a:r>
            <a:endParaRPr/>
          </a:p>
        </p:txBody>
      </p:sp>
      <p:sp>
        <p:nvSpPr>
          <p:cNvPr id="4" name="Google Shape;926;p84">
            <a:extLst>
              <a:ext uri="{FF2B5EF4-FFF2-40B4-BE49-F238E27FC236}">
                <a16:creationId xmlns:a16="http://schemas.microsoft.com/office/drawing/2014/main" id="{AFE0EF4F-599B-4484-D685-DE49888DDF0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lt1"/>
              </a:buClr>
              <a:buSzPts val="1667"/>
              <a:buFont typeface="Arial"/>
              <a:buNone/>
              <a:defRPr sz="16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pt-BR" sz="2333" dirty="0"/>
              <a:t>Luciano Soares</a:t>
            </a:r>
            <a:endParaRPr dirty="0"/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pt-BR" sz="2333" dirty="0"/>
              <a:t>&lt;</a:t>
            </a:r>
            <a:r>
              <a:rPr lang="pt-BR" sz="2333" dirty="0" err="1"/>
              <a:t>lpsoares@insper.edu.br</a:t>
            </a:r>
            <a:r>
              <a:rPr lang="pt-BR" sz="2333" dirty="0"/>
              <a:t>&gt;</a:t>
            </a:r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endParaRPr lang="pt-BR" sz="2333" dirty="0"/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en-BR" sz="2333" dirty="0"/>
              <a:t>Fabio Orfali</a:t>
            </a:r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en-BR" sz="2333" dirty="0"/>
              <a:t>&lt;fabioO1@insper.edu.br&gt;</a:t>
            </a:r>
            <a:endParaRPr sz="2333" dirty="0"/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endParaRPr sz="23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1777</Words>
  <Application>Microsoft Office PowerPoint</Application>
  <PresentationFormat>On-screen Show (16:10)</PresentationFormat>
  <Paragraphs>332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Cambria Math</vt:lpstr>
      <vt:lpstr>Arial</vt:lpstr>
      <vt:lpstr>Verdana</vt:lpstr>
      <vt:lpstr>Times New Roman</vt:lpstr>
      <vt:lpstr>Personalizar design</vt:lpstr>
      <vt:lpstr>PowerPoint Presentation</vt:lpstr>
      <vt:lpstr>Retomando da última aula:  Coordenadas Homogêneas (em 2D)</vt:lpstr>
      <vt:lpstr>Coordenadas Homogêneas (em 2D ∴ 2D-H)</vt:lpstr>
      <vt:lpstr>Transformações Afim em Coordenadas Homogêneas</vt:lpstr>
      <vt:lpstr>Composição de Transformações</vt:lpstr>
      <vt:lpstr>Composição de Transformações</vt:lpstr>
      <vt:lpstr>Composição de Transformações</vt:lpstr>
      <vt:lpstr>Composição de Transformações</vt:lpstr>
      <vt:lpstr>Composição de Transformações</vt:lpstr>
      <vt:lpstr>Composição de Transformações (2D-H)</vt:lpstr>
      <vt:lpstr>Sumário de Transformações Geométricas Básicas</vt:lpstr>
      <vt:lpstr>Teorema - Transformações Geométricas Básicas</vt:lpstr>
      <vt:lpstr>Indo para o espaço 3D (3D-H)</vt:lpstr>
      <vt:lpstr>Transformações 3D em Coord. Homogêneas</vt:lpstr>
      <vt:lpstr>Normalização Homogênea</vt:lpstr>
      <vt:lpstr>Indo para o espaço 3D (3D-H)</vt:lpstr>
      <vt:lpstr>Comutatividade da Rotação (em 2D)</vt:lpstr>
      <vt:lpstr>Rotações em 3D – ângulos de euler</vt:lpstr>
      <vt:lpstr>Eixos e Rotações em 3D</vt:lpstr>
      <vt:lpstr>Rotações em 3D por ângulos de Euler</vt:lpstr>
      <vt:lpstr>Comutatividade da Rotação (em 3D)</vt:lpstr>
      <vt:lpstr>Problema 1: Ordem das rotações</vt:lpstr>
      <vt:lpstr>Problema 2: Gimbal Lock</vt:lpstr>
      <vt:lpstr>Problema 2: Gimbal Lock</vt:lpstr>
      <vt:lpstr>problema 3 : interpolação de rotações</vt:lpstr>
      <vt:lpstr>Rotações em 3D</vt:lpstr>
      <vt:lpstr>Representação Alternativa de Rotações 3D</vt:lpstr>
      <vt:lpstr>Quatérnios</vt:lpstr>
      <vt:lpstr>O que são Quatérnios</vt:lpstr>
      <vt:lpstr>A base canônica dos quatérnios</vt:lpstr>
      <vt:lpstr>Como representar quatérnios</vt:lpstr>
      <vt:lpstr>Multiplicação de Quatérnios</vt:lpstr>
      <vt:lpstr>Quatérnios</vt:lpstr>
      <vt:lpstr>Conjugado</vt:lpstr>
      <vt:lpstr>Propriedades algébricas dos quatérnios</vt:lpstr>
      <vt:lpstr>Quatérnios e Rotações</vt:lpstr>
      <vt:lpstr>Rotação de Quatérnios unitários</vt:lpstr>
      <vt:lpstr>Quatérnios Unitários e Rotações</vt:lpstr>
      <vt:lpstr>Representação Quatérnios em Coord. Homogêneas</vt:lpstr>
      <vt:lpstr>ATIVIDADE: Rotações por Quatérnios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Luciano Soares</cp:lastModifiedBy>
  <cp:revision>162</cp:revision>
  <dcterms:modified xsi:type="dcterms:W3CDTF">2026-08-19T18:58:25Z</dcterms:modified>
</cp:coreProperties>
</file>